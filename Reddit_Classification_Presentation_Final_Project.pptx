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0456B-88F3-5B46-B9A3-3BCC0B7C563C}" v="1" dt="2026-05-12T14:09:06.705"/>
    <p1510:client id="{4853CC0B-3EA1-3D4A-9942-1426ECFF6AE1}" v="10" dt="2026-05-12T20:59:03.712"/>
    <p1510:client id="{51BE6B50-0FB2-432C-BA60-E71491EC060C}" v="10" dt="2026-05-12T00:04:57.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 E Trusio" userId="6a440f9f-24d4-43cf-8298-cecd9c8e5131" providerId="ADAL" clId="{260FF7DB-1E29-5750-B2CE-A81B92818ED7}"/>
    <pc:docChg chg="modSld">
      <pc:chgData name="Emma E Trusio" userId="6a440f9f-24d4-43cf-8298-cecd9c8e5131" providerId="ADAL" clId="{260FF7DB-1E29-5750-B2CE-A81B92818ED7}" dt="2026-05-12T20:58:15.825" v="7" actId="20577"/>
      <pc:docMkLst>
        <pc:docMk/>
      </pc:docMkLst>
      <pc:sldChg chg="modSp mod">
        <pc:chgData name="Emma E Trusio" userId="6a440f9f-24d4-43cf-8298-cecd9c8e5131" providerId="ADAL" clId="{260FF7DB-1E29-5750-B2CE-A81B92818ED7}" dt="2026-05-12T20:16:48.226" v="0" actId="20577"/>
        <pc:sldMkLst>
          <pc:docMk/>
          <pc:sldMk cId="0" sldId="256"/>
        </pc:sldMkLst>
        <pc:spChg chg="mod">
          <ac:chgData name="Emma E Trusio" userId="6a440f9f-24d4-43cf-8298-cecd9c8e5131" providerId="ADAL" clId="{260FF7DB-1E29-5750-B2CE-A81B92818ED7}" dt="2026-05-12T20:16:48.226" v="0" actId="20577"/>
          <ac:spMkLst>
            <pc:docMk/>
            <pc:sldMk cId="0" sldId="256"/>
            <ac:spMk id="7" creationId="{00000000-0000-0000-0000-000000000000}"/>
          </ac:spMkLst>
        </pc:spChg>
      </pc:sldChg>
      <pc:sldChg chg="modNotesTx">
        <pc:chgData name="Emma E Trusio" userId="6a440f9f-24d4-43cf-8298-cecd9c8e5131" providerId="ADAL" clId="{260FF7DB-1E29-5750-B2CE-A81B92818ED7}" dt="2026-05-12T20:36:04.803" v="4" actId="20577"/>
        <pc:sldMkLst>
          <pc:docMk/>
          <pc:sldMk cId="0" sldId="259"/>
        </pc:sldMkLst>
      </pc:sldChg>
      <pc:sldChg chg="modNotesTx">
        <pc:chgData name="Emma E Trusio" userId="6a440f9f-24d4-43cf-8298-cecd9c8e5131" providerId="ADAL" clId="{260FF7DB-1E29-5750-B2CE-A81B92818ED7}" dt="2026-05-12T20:35:29.237" v="3" actId="20577"/>
        <pc:sldMkLst>
          <pc:docMk/>
          <pc:sldMk cId="0" sldId="260"/>
        </pc:sldMkLst>
      </pc:sldChg>
      <pc:sldChg chg="modNotesTx">
        <pc:chgData name="Emma E Trusio" userId="6a440f9f-24d4-43cf-8298-cecd9c8e5131" providerId="ADAL" clId="{260FF7DB-1E29-5750-B2CE-A81B92818ED7}" dt="2026-05-12T20:36:30.035" v="5" actId="20577"/>
        <pc:sldMkLst>
          <pc:docMk/>
          <pc:sldMk cId="0" sldId="262"/>
        </pc:sldMkLst>
      </pc:sldChg>
      <pc:sldChg chg="modNotesTx">
        <pc:chgData name="Emma E Trusio" userId="6a440f9f-24d4-43cf-8298-cecd9c8e5131" providerId="ADAL" clId="{260FF7DB-1E29-5750-B2CE-A81B92818ED7}" dt="2026-05-12T20:58:15.825" v="7" actId="20577"/>
        <pc:sldMkLst>
          <pc:docMk/>
          <pc:sldMk cId="0" sldId="263"/>
        </pc:sldMkLst>
      </pc:sldChg>
      <pc:sldChg chg="modNotesTx">
        <pc:chgData name="Emma E Trusio" userId="6a440f9f-24d4-43cf-8298-cecd9c8e5131" providerId="ADAL" clId="{260FF7DB-1E29-5750-B2CE-A81B92818ED7}" dt="2026-05-12T20:36:52.793" v="6" actId="20577"/>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762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Good morning. Our project tackles a real-world NLP problem: given a Reddit comment, can a machine learning model predict which of 40 subreddits it came from? We processed 500,000 comments from different communities like gaming, sports, relationship advice, and politics. Our goal was to compare four different machine learning approaches on the exact same dataset to understand when simple models work better than complex ones.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Before we build any model, we need to clean the raw data. We followed six steps.</a:t>
            </a:r>
          </a:p>
          <a:p>
            <a:r>
              <a:rPr lang="en-US" sz="1200" b="0" i="0" kern="1200">
                <a:solidFill>
                  <a:schemeClr val="tx1"/>
                </a:solidFill>
                <a:effectLst/>
                <a:latin typeface="+mn-lt"/>
                <a:ea typeface="+mn-ea"/>
                <a:cs typeface="+mn-cs"/>
              </a:rPr>
              <a:t>Step one: drop nulls. If a comment is missing its subreddit label or has no text, we remove it. We can't use it.</a:t>
            </a:r>
          </a:p>
          <a:p>
            <a:r>
              <a:rPr lang="en-US" sz="1200" b="0" i="0" kern="1200">
                <a:solidFill>
                  <a:schemeClr val="tx1"/>
                </a:solidFill>
                <a:effectLst/>
                <a:latin typeface="+mn-lt"/>
                <a:ea typeface="+mn-ea"/>
                <a:cs typeface="+mn-cs"/>
              </a:rPr>
              <a:t>Step two: filter markers. When Reddit mods delete or remove comments, they leave behind strings that say [deleted] or [removed]. We don't want the model learning that the word "deleted" predicts anything. We want to learn from actual content.</a:t>
            </a:r>
          </a:p>
          <a:p>
            <a:r>
              <a:rPr lang="en-US" sz="1200" b="0" i="0" kern="1200">
                <a:solidFill>
                  <a:schemeClr val="tx1"/>
                </a:solidFill>
                <a:effectLst/>
                <a:latin typeface="+mn-lt"/>
                <a:ea typeface="+mn-ea"/>
                <a:cs typeface="+mn-cs"/>
              </a:rPr>
              <a:t>Step three: normalize text. We convert everything to lowercase and remove non-alphanumeric characters. This reduces noise. The word "gaming" should be the same as "Gaming."</a:t>
            </a:r>
          </a:p>
          <a:p>
            <a:r>
              <a:rPr lang="en-US" sz="1200" b="0" i="0" kern="1200">
                <a:solidFill>
                  <a:schemeClr val="tx1"/>
                </a:solidFill>
                <a:effectLst/>
                <a:latin typeface="+mn-lt"/>
                <a:ea typeface="+mn-ea"/>
                <a:cs typeface="+mn-cs"/>
              </a:rPr>
              <a:t>Step four: balance the classes. This is important. Some subreddits are way more active than others. If r/</a:t>
            </a:r>
            <a:r>
              <a:rPr lang="en-US" sz="1200" b="0" i="0" kern="1200" err="1">
                <a:solidFill>
                  <a:schemeClr val="tx1"/>
                </a:solidFill>
                <a:effectLst/>
                <a:latin typeface="+mn-lt"/>
                <a:ea typeface="+mn-ea"/>
                <a:cs typeface="+mn-cs"/>
              </a:rPr>
              <a:t>AskReddit</a:t>
            </a:r>
            <a:r>
              <a:rPr lang="en-US" sz="1200" b="0" i="0" kern="1200">
                <a:solidFill>
                  <a:schemeClr val="tx1"/>
                </a:solidFill>
                <a:effectLst/>
                <a:latin typeface="+mn-lt"/>
                <a:ea typeface="+mn-ea"/>
                <a:cs typeface="+mn-cs"/>
              </a:rPr>
              <a:t> dominates our dataset, the model learns to predict "</a:t>
            </a:r>
            <a:r>
              <a:rPr lang="en-US" sz="1200" b="0" i="0" kern="1200" err="1">
                <a:solidFill>
                  <a:schemeClr val="tx1"/>
                </a:solidFill>
                <a:effectLst/>
                <a:latin typeface="+mn-lt"/>
                <a:ea typeface="+mn-ea"/>
                <a:cs typeface="+mn-cs"/>
              </a:rPr>
              <a:t>AskReddit</a:t>
            </a:r>
            <a:r>
              <a:rPr lang="en-US" sz="1200" b="0" i="0" kern="1200">
                <a:solidFill>
                  <a:schemeClr val="tx1"/>
                </a:solidFill>
                <a:effectLst/>
                <a:latin typeface="+mn-lt"/>
                <a:ea typeface="+mn-ea"/>
                <a:cs typeface="+mn-cs"/>
              </a:rPr>
              <a:t>" all the time and ignores the other 39 communities. We capped each subreddit at 12,500 rows and randomly sampled. This is called stratification, and it's essential for multi-class problems.</a:t>
            </a:r>
          </a:p>
          <a:p>
            <a:r>
              <a:rPr lang="en-US" sz="1200" b="0" i="0" kern="1200">
                <a:solidFill>
                  <a:schemeClr val="tx1"/>
                </a:solidFill>
                <a:effectLst/>
                <a:latin typeface="+mn-lt"/>
                <a:ea typeface="+mn-ea"/>
                <a:cs typeface="+mn-cs"/>
              </a:rPr>
              <a:t>Step five: clip negative scores to zero. This is specific to Naive Bayes, which needs non-negative numbers. We'll see later why this matters.</a:t>
            </a:r>
          </a:p>
          <a:p>
            <a:r>
              <a:rPr lang="en-US" sz="1200" b="0" i="0" kern="1200">
                <a:solidFill>
                  <a:schemeClr val="tx1"/>
                </a:solidFill>
                <a:effectLst/>
                <a:latin typeface="+mn-lt"/>
                <a:ea typeface="+mn-ea"/>
                <a:cs typeface="+mn-cs"/>
              </a:rPr>
              <a:t>Step six: split the data 80 for training and 20 for testing, with a fixed random seed. That seed means we can reproduce our exact results.</a:t>
            </a:r>
          </a:p>
          <a:p>
            <a:r>
              <a:rPr lang="en-US" sz="1200" b="0" i="0" kern="1200">
                <a:solidFill>
                  <a:schemeClr val="tx1"/>
                </a:solidFill>
                <a:effectLst/>
                <a:latin typeface="+mn-lt"/>
                <a:ea typeface="+mn-ea"/>
                <a:cs typeface="+mn-cs"/>
              </a:rPr>
              <a:t>After all this, we had 399,779 training examples and 100,221 test examples, evenly distributed across all 40 subreddits. Clean data, balanced classes, ready to work with.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We collected 500,000 Reddit comments from 40 different subreddits and stored them on AWS S3. We processed everything using </a:t>
            </a:r>
            <a:r>
              <a:rPr lang="en-US" sz="1200" b="0" i="0" kern="1200" err="1">
                <a:solidFill>
                  <a:schemeClr val="tx1"/>
                </a:solidFill>
                <a:effectLst/>
                <a:latin typeface="+mn-lt"/>
                <a:ea typeface="+mn-ea"/>
                <a:cs typeface="+mn-cs"/>
              </a:rPr>
              <a:t>PySpark</a:t>
            </a:r>
            <a:r>
              <a:rPr lang="en-US" sz="1200" b="0" i="0" kern="1200">
                <a:solidFill>
                  <a:schemeClr val="tx1"/>
                </a:solidFill>
                <a:effectLst/>
                <a:latin typeface="+mn-lt"/>
                <a:ea typeface="+mn-ea"/>
                <a:cs typeface="+mn-cs"/>
              </a:rPr>
              <a:t> on AWS EMR. This matters because Reddit data is unstructured. We get raw text comments with some associated information.</a:t>
            </a:r>
          </a:p>
          <a:p>
            <a:r>
              <a:rPr lang="en-US" sz="1200" b="0" i="0" kern="1200">
                <a:solidFill>
                  <a:schemeClr val="tx1"/>
                </a:solidFill>
                <a:effectLst/>
                <a:latin typeface="+mn-lt"/>
                <a:ea typeface="+mn-ea"/>
                <a:cs typeface="+mn-cs"/>
              </a:rPr>
              <a:t>We used four features from each comment. The comment body is our main input, the raw text we're analyzing. The subreddit label is what we're trying to predict. The score is the net number of upvotes, which is a numeric feature. And controversiality is a binary flag that Reddit assigns to controversial comments.</a:t>
            </a:r>
          </a:p>
          <a:p>
            <a:r>
              <a:rPr lang="en-US" sz="1200" b="0" i="0" kern="1200">
                <a:solidFill>
                  <a:schemeClr val="tx1"/>
                </a:solidFill>
                <a:effectLst/>
                <a:latin typeface="+mn-lt"/>
                <a:ea typeface="+mn-ea"/>
                <a:cs typeface="+mn-cs"/>
              </a:rPr>
              <a:t>Our subreddit mix is diverse. We included gaming communities like r/</a:t>
            </a:r>
            <a:r>
              <a:rPr lang="en-US" sz="1200" b="0" i="0" kern="1200" err="1">
                <a:solidFill>
                  <a:schemeClr val="tx1"/>
                </a:solidFill>
                <a:effectLst/>
                <a:latin typeface="+mn-lt"/>
                <a:ea typeface="+mn-ea"/>
                <a:cs typeface="+mn-cs"/>
              </a:rPr>
              <a:t>gameofthrones</a:t>
            </a:r>
            <a:r>
              <a:rPr lang="en-US" sz="1200" b="0" i="0" kern="1200">
                <a:solidFill>
                  <a:schemeClr val="tx1"/>
                </a:solidFill>
                <a:effectLst/>
                <a:latin typeface="+mn-lt"/>
                <a:ea typeface="+mn-ea"/>
                <a:cs typeface="+mn-cs"/>
              </a:rPr>
              <a:t>, sports subreddits like r/</a:t>
            </a:r>
            <a:r>
              <a:rPr lang="en-US" sz="1200" b="0" i="0" kern="1200" err="1">
                <a:solidFill>
                  <a:schemeClr val="tx1"/>
                </a:solidFill>
                <a:effectLst/>
                <a:latin typeface="+mn-lt"/>
                <a:ea typeface="+mn-ea"/>
                <a:cs typeface="+mn-cs"/>
              </a:rPr>
              <a:t>nba</a:t>
            </a:r>
            <a:r>
              <a:rPr lang="en-US" sz="1200" b="0" i="0" kern="1200">
                <a:solidFill>
                  <a:schemeClr val="tx1"/>
                </a:solidFill>
                <a:effectLst/>
                <a:latin typeface="+mn-lt"/>
                <a:ea typeface="+mn-ea"/>
                <a:cs typeface="+mn-cs"/>
              </a:rPr>
              <a:t>, advice communities like r/</a:t>
            </a:r>
            <a:r>
              <a:rPr lang="en-US" sz="1200" b="0" i="0" kern="1200" err="1">
                <a:solidFill>
                  <a:schemeClr val="tx1"/>
                </a:solidFill>
                <a:effectLst/>
                <a:latin typeface="+mn-lt"/>
                <a:ea typeface="+mn-ea"/>
                <a:cs typeface="+mn-cs"/>
              </a:rPr>
              <a:t>AmItheAsshole</a:t>
            </a:r>
            <a:r>
              <a:rPr lang="en-US" sz="1200" b="0" i="0" kern="1200">
                <a:solidFill>
                  <a:schemeClr val="tx1"/>
                </a:solidFill>
                <a:effectLst/>
                <a:latin typeface="+mn-lt"/>
                <a:ea typeface="+mn-ea"/>
                <a:cs typeface="+mn-cs"/>
              </a:rPr>
              <a:t> and r/</a:t>
            </a:r>
            <a:r>
              <a:rPr lang="en-US" sz="1200" b="0" i="0" kern="1200" err="1">
                <a:solidFill>
                  <a:schemeClr val="tx1"/>
                </a:solidFill>
                <a:effectLst/>
                <a:latin typeface="+mn-lt"/>
                <a:ea typeface="+mn-ea"/>
                <a:cs typeface="+mn-cs"/>
              </a:rPr>
              <a:t>relationship_advice</a:t>
            </a:r>
            <a:r>
              <a:rPr lang="en-US" sz="1200" b="0" i="0" kern="1200">
                <a:solidFill>
                  <a:schemeClr val="tx1"/>
                </a:solidFill>
                <a:effectLst/>
                <a:latin typeface="+mn-lt"/>
                <a:ea typeface="+mn-ea"/>
                <a:cs typeface="+mn-cs"/>
              </a:rPr>
              <a:t>, political subreddits, and meme communities. This diversity matters because it forces the model to learn genuinely different vocabularies. It can't just learn a few obvious differences; it has to understand 40 distinct communities.</a:t>
            </a:r>
          </a:p>
          <a:p>
            <a:r>
              <a:rPr lang="en-US" sz="1200" b="0" i="0" kern="1200">
                <a:solidFill>
                  <a:schemeClr val="tx1"/>
                </a:solidFill>
                <a:effectLst/>
                <a:latin typeface="+mn-lt"/>
                <a:ea typeface="+mn-ea"/>
                <a:cs typeface="+mn-cs"/>
              </a:rPr>
              <a:t>Why </a:t>
            </a:r>
            <a:r>
              <a:rPr lang="en-US" sz="1200" b="0" i="0" kern="1200" err="1">
                <a:solidFill>
                  <a:schemeClr val="tx1"/>
                </a:solidFill>
                <a:effectLst/>
                <a:latin typeface="+mn-lt"/>
                <a:ea typeface="+mn-ea"/>
                <a:cs typeface="+mn-cs"/>
              </a:rPr>
              <a:t>PySpark</a:t>
            </a:r>
            <a:r>
              <a:rPr lang="en-US" sz="1200" b="0" i="0" kern="1200">
                <a:solidFill>
                  <a:schemeClr val="tx1"/>
                </a:solidFill>
                <a:effectLst/>
                <a:latin typeface="+mn-lt"/>
                <a:ea typeface="+mn-ea"/>
                <a:cs typeface="+mn-cs"/>
              </a:rPr>
              <a:t>? Because 500,000 comments with 15,000 text features is too much for a single computer to handle easily. </a:t>
            </a:r>
            <a:r>
              <a:rPr lang="en-US" sz="1200" b="0" i="0" kern="1200" err="1">
                <a:solidFill>
                  <a:schemeClr val="tx1"/>
                </a:solidFill>
                <a:effectLst/>
                <a:latin typeface="+mn-lt"/>
                <a:ea typeface="+mn-ea"/>
                <a:cs typeface="+mn-cs"/>
              </a:rPr>
              <a:t>PySpark</a:t>
            </a:r>
            <a:r>
              <a:rPr lang="en-US" sz="1200" b="0" i="0" kern="1200">
                <a:solidFill>
                  <a:schemeClr val="tx1"/>
                </a:solidFill>
                <a:effectLst/>
                <a:latin typeface="+mn-lt"/>
                <a:ea typeface="+mn-ea"/>
                <a:cs typeface="+mn-cs"/>
              </a:rPr>
              <a:t> distributes the work across a cluster. The text vectorization, the model training, all of it can run in parallel.</a:t>
            </a: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Logistic Regression — </a:t>
            </a:r>
            <a:r>
              <a:rPr lang="en-US" sz="1200" b="1" kern="1200" err="1">
                <a:solidFill>
                  <a:schemeClr val="tx1"/>
                </a:solidFill>
                <a:latin typeface="+mn-lt"/>
                <a:ea typeface="+mn-ea"/>
                <a:cs typeface="+mn-cs"/>
              </a:rPr>
              <a:t>maxIter</a:t>
            </a:r>
            <a:r>
              <a:rPr lang="en-US" sz="1200" b="1" kern="1200">
                <a:solidFill>
                  <a:schemeClr val="tx1"/>
                </a:solidFill>
                <a:latin typeface="+mn-lt"/>
                <a:ea typeface="+mn-ea"/>
                <a:cs typeface="+mn-cs"/>
              </a:rPr>
              <a:t> = 30</a:t>
            </a:r>
            <a:r>
              <a:rPr lang="en-US" b="1"/>
              <a:t>, </a:t>
            </a:r>
            <a:r>
              <a:rPr lang="en-US" sz="1200" b="1" kern="1200" err="1">
                <a:solidFill>
                  <a:schemeClr val="tx1"/>
                </a:solidFill>
                <a:latin typeface="+mn-lt"/>
                <a:ea typeface="+mn-ea"/>
                <a:cs typeface="+mn-cs"/>
              </a:rPr>
              <a:t>regParam</a:t>
            </a:r>
            <a:r>
              <a:rPr lang="en-US" sz="1200" b="1" kern="1200">
                <a:solidFill>
                  <a:schemeClr val="tx1"/>
                </a:solidFill>
                <a:latin typeface="+mn-lt"/>
                <a:ea typeface="+mn-ea"/>
                <a:cs typeface="+mn-cs"/>
              </a:rPr>
              <a:t> = 0.01</a:t>
            </a:r>
            <a:endParaRPr lang="en-US" b="1"/>
          </a:p>
          <a:p>
            <a:r>
              <a:rPr lang="en-US"/>
              <a:t>Logistic regression learns by adjusting its weights step by step.</a:t>
            </a:r>
          </a:p>
          <a:p>
            <a:r>
              <a:rPr lang="en-US" sz="1200" kern="1200" err="1">
                <a:solidFill>
                  <a:schemeClr val="tx1"/>
                </a:solidFill>
                <a:latin typeface="+mn-lt"/>
                <a:ea typeface="+mn-ea"/>
                <a:cs typeface="+mn-cs"/>
              </a:rPr>
              <a:t>maxIter</a:t>
            </a:r>
            <a:r>
              <a:rPr lang="en-US" sz="1200" kern="1200">
                <a:solidFill>
                  <a:schemeClr val="tx1"/>
                </a:solidFill>
                <a:latin typeface="+mn-lt"/>
                <a:ea typeface="+mn-ea"/>
                <a:cs typeface="+mn-cs"/>
              </a:rPr>
              <a:t> = 30</a:t>
            </a:r>
            <a:r>
              <a:rPr lang="en-US"/>
              <a:t> means the model was allowed up to 30 rounds of training. If it found a good solution earlier, it stopped automatically.</a:t>
            </a:r>
          </a:p>
          <a:p>
            <a:r>
              <a:rPr lang="en-US" sz="1200" kern="1200" err="1">
                <a:solidFill>
                  <a:schemeClr val="tx1"/>
                </a:solidFill>
                <a:latin typeface="+mn-lt"/>
                <a:ea typeface="+mn-ea"/>
                <a:cs typeface="+mn-cs"/>
              </a:rPr>
              <a:t>regParam</a:t>
            </a:r>
            <a:r>
              <a:rPr lang="en-US" sz="1200" kern="1200">
                <a:solidFill>
                  <a:schemeClr val="tx1"/>
                </a:solidFill>
                <a:latin typeface="+mn-lt"/>
                <a:ea typeface="+mn-ea"/>
                <a:cs typeface="+mn-cs"/>
              </a:rPr>
              <a:t> = 0.01</a:t>
            </a:r>
            <a:r>
              <a:rPr lang="en-US"/>
              <a:t> adds a small penalty to prevent the model from relying too heavily on any one word. This helps reduce overfitting, especially for rare words, while still allowing important words to influence the prediction.</a:t>
            </a:r>
          </a:p>
          <a:p>
            <a:endParaRPr lang="en-US"/>
          </a:p>
          <a:p>
            <a:endParaRPr lang="en-US"/>
          </a:p>
          <a:p>
            <a:r>
              <a:rPr lang="en-US" b="1"/>
              <a:t>Naive Bayes — Multinomial, </a:t>
            </a:r>
            <a:r>
              <a:rPr lang="en-US" sz="1200" b="1" kern="1200">
                <a:solidFill>
                  <a:schemeClr val="tx1"/>
                </a:solidFill>
                <a:latin typeface="+mn-lt"/>
                <a:ea typeface="+mn-ea"/>
                <a:cs typeface="+mn-cs"/>
              </a:rPr>
              <a:t>smoothing = 1.0</a:t>
            </a:r>
            <a:endParaRPr lang="en-US" b="1"/>
          </a:p>
          <a:p>
            <a:r>
              <a:rPr lang="en-US"/>
              <a:t>We used </a:t>
            </a:r>
            <a:r>
              <a:rPr lang="en-US" b="1"/>
              <a:t>multinomial Naive Bayes</a:t>
            </a:r>
            <a:r>
              <a:rPr lang="en-US"/>
              <a:t> because it is designed for text data, especially word counts.</a:t>
            </a:r>
          </a:p>
          <a:p>
            <a:r>
              <a:rPr lang="en-US" sz="1200" kern="1200">
                <a:solidFill>
                  <a:schemeClr val="tx1"/>
                </a:solidFill>
                <a:latin typeface="+mn-lt"/>
                <a:ea typeface="+mn-ea"/>
                <a:cs typeface="+mn-cs"/>
              </a:rPr>
              <a:t>smoothing = 1.0</a:t>
            </a:r>
            <a:r>
              <a:rPr lang="en-US"/>
              <a:t> is Laplace smoothing. It prevents the model from assigning zero probability to words it did not see during training.</a:t>
            </a:r>
          </a:p>
          <a:p>
            <a:r>
              <a:rPr lang="en-US"/>
              <a:t>For example, if a word never appeared in one subreddit during training, the model should not completely rule out that subreddit just because the word appears in a new comment. Smoothing helps avoid that problem.</a:t>
            </a:r>
          </a:p>
          <a:p>
            <a:endParaRPr lang="en-US"/>
          </a:p>
          <a:p>
            <a:r>
              <a:rPr lang="en-US" b="1"/>
              <a:t>Decision Tree — </a:t>
            </a:r>
            <a:r>
              <a:rPr lang="en-US" sz="1200" b="1" kern="1200" err="1">
                <a:solidFill>
                  <a:schemeClr val="tx1"/>
                </a:solidFill>
                <a:latin typeface="+mn-lt"/>
                <a:ea typeface="+mn-ea"/>
                <a:cs typeface="+mn-cs"/>
              </a:rPr>
              <a:t>maxDepth</a:t>
            </a:r>
            <a:r>
              <a:rPr lang="en-US" sz="1200" b="1" kern="1200">
                <a:solidFill>
                  <a:schemeClr val="tx1"/>
                </a:solidFill>
                <a:latin typeface="+mn-lt"/>
                <a:ea typeface="+mn-ea"/>
                <a:cs typeface="+mn-cs"/>
              </a:rPr>
              <a:t> = 8</a:t>
            </a:r>
            <a:endParaRPr lang="en-US" b="1"/>
          </a:p>
          <a:p>
            <a:r>
              <a:rPr lang="en-US" sz="1200" kern="1200" err="1">
                <a:solidFill>
                  <a:schemeClr val="tx1"/>
                </a:solidFill>
                <a:latin typeface="+mn-lt"/>
                <a:ea typeface="+mn-ea"/>
                <a:cs typeface="+mn-cs"/>
              </a:rPr>
              <a:t>maxDepth</a:t>
            </a:r>
            <a:r>
              <a:rPr lang="en-US" sz="1200" kern="1200">
                <a:solidFill>
                  <a:schemeClr val="tx1"/>
                </a:solidFill>
                <a:latin typeface="+mn-lt"/>
                <a:ea typeface="+mn-ea"/>
                <a:cs typeface="+mn-cs"/>
              </a:rPr>
              <a:t> = 8</a:t>
            </a:r>
            <a:r>
              <a:rPr lang="en-US"/>
              <a:t> limits how complex the decision tree can become.</a:t>
            </a:r>
          </a:p>
          <a:p>
            <a:r>
              <a:rPr lang="en-US"/>
              <a:t>At depth 8, the tree can create up to 256 final decision groups. That sounds like a lot, but it is small for our task because we are trying to classify 40 subreddits using 15,000 word features.</a:t>
            </a:r>
          </a:p>
          <a:p>
            <a:r>
              <a:rPr lang="en-US"/>
              <a:t>This limit likely hurt the Decision Tree’s performance. A deeper tree might perform better, but it would also overfit more easily and require much more memory.</a:t>
            </a:r>
          </a:p>
          <a:p>
            <a:endParaRPr lang="en-US"/>
          </a:p>
          <a:p>
            <a:endParaRPr lang="en-US"/>
          </a:p>
          <a:p>
            <a:endParaRPr lang="en-US"/>
          </a:p>
          <a:p>
            <a:r>
              <a:rPr lang="en-US" b="1"/>
              <a:t>MLP Neural Network — </a:t>
            </a:r>
            <a:r>
              <a:rPr lang="en-US" sz="1200" b="1" kern="1200">
                <a:solidFill>
                  <a:schemeClr val="tx1"/>
                </a:solidFill>
                <a:latin typeface="+mn-lt"/>
                <a:ea typeface="+mn-ea"/>
                <a:cs typeface="+mn-cs"/>
              </a:rPr>
              <a:t>15002 → 128 → 64 → 40</a:t>
            </a:r>
            <a:r>
              <a:rPr lang="en-US" b="1"/>
              <a:t>, </a:t>
            </a:r>
            <a:r>
              <a:rPr lang="en-US" sz="1200" b="1" kern="1200" err="1">
                <a:solidFill>
                  <a:schemeClr val="tx1"/>
                </a:solidFill>
                <a:latin typeface="+mn-lt"/>
                <a:ea typeface="+mn-ea"/>
                <a:cs typeface="+mn-cs"/>
              </a:rPr>
              <a:t>maxIter</a:t>
            </a:r>
            <a:r>
              <a:rPr lang="en-US" sz="1200" b="1" kern="1200">
                <a:solidFill>
                  <a:schemeClr val="tx1"/>
                </a:solidFill>
                <a:latin typeface="+mn-lt"/>
                <a:ea typeface="+mn-ea"/>
                <a:cs typeface="+mn-cs"/>
              </a:rPr>
              <a:t> = 50</a:t>
            </a:r>
            <a:endParaRPr lang="en-US" b="1"/>
          </a:p>
          <a:p>
            <a:r>
              <a:rPr lang="en-US"/>
              <a:t>The MLP is a neural network with several layers.</a:t>
            </a:r>
          </a:p>
          <a:p>
            <a:r>
              <a:rPr lang="en-US"/>
              <a:t>The input layer has 15,002 features: 15,000 TF-IDF word features plus score and controversiality.</a:t>
            </a:r>
          </a:p>
          <a:p>
            <a:r>
              <a:rPr lang="en-US"/>
              <a:t>The hidden layers, 128 and 64, learn combinations of features rather than relying only on individual words.</a:t>
            </a:r>
          </a:p>
          <a:p>
            <a:r>
              <a:rPr lang="en-US"/>
              <a:t>The output layer has 40 neurons, one for each subreddit. The neuron with the strongest output becomes the model’s prediction.</a:t>
            </a:r>
          </a:p>
          <a:p>
            <a:r>
              <a:rPr lang="en-US" sz="1200" kern="1200" err="1">
                <a:solidFill>
                  <a:schemeClr val="tx1"/>
                </a:solidFill>
                <a:latin typeface="+mn-lt"/>
                <a:ea typeface="+mn-ea"/>
                <a:cs typeface="+mn-cs"/>
              </a:rPr>
              <a:t>maxIter</a:t>
            </a:r>
            <a:r>
              <a:rPr lang="en-US" sz="1200" kern="1200">
                <a:solidFill>
                  <a:schemeClr val="tx1"/>
                </a:solidFill>
                <a:latin typeface="+mn-lt"/>
                <a:ea typeface="+mn-ea"/>
                <a:cs typeface="+mn-cs"/>
              </a:rPr>
              <a:t> = 50</a:t>
            </a:r>
            <a:r>
              <a:rPr lang="en-US"/>
              <a:t> means the model trained for 50 passes through the data. This is relatively low for a neural network, which may explain why it did not outperform logistic regression.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We used two main metrics to evaluate performance.</a:t>
            </a:r>
          </a:p>
          <a:p>
            <a:r>
              <a:rPr lang="en-US" sz="1200" b="0" i="0" kern="1200">
                <a:solidFill>
                  <a:schemeClr val="tx1"/>
                </a:solidFill>
                <a:effectLst/>
                <a:latin typeface="+mn-lt"/>
                <a:ea typeface="+mn-ea"/>
                <a:cs typeface="+mn-cs"/>
              </a:rPr>
              <a:t>Accuracy is straightforward. Out of all test comments, what fraction did we predict correctly? Everyone understands accuracy. It's intuitive. But it can hide problems if your classes are imbalanced. We solved that by balancing our training data.</a:t>
            </a:r>
          </a:p>
          <a:p>
            <a:r>
              <a:rPr lang="en-US" sz="1200" b="0" i="0" kern="1200">
                <a:solidFill>
                  <a:schemeClr val="tx1"/>
                </a:solidFill>
                <a:effectLst/>
                <a:latin typeface="+mn-lt"/>
                <a:ea typeface="+mn-ea"/>
                <a:cs typeface="+mn-cs"/>
              </a:rPr>
              <a:t>Macro F1 is more sophisticated. F1 is the harmonic mean of precision and recall. Macro F1 means we compute F1 for each of the 40 subreddits separately, then average them. This treats all classes equally. It answers the question: does the model understand every community equally well?</a:t>
            </a:r>
          </a:p>
          <a:p>
            <a:r>
              <a:rPr lang="en-US" sz="1200" b="0" i="0" kern="1200">
                <a:solidFill>
                  <a:schemeClr val="tx1"/>
                </a:solidFill>
                <a:effectLst/>
                <a:latin typeface="+mn-lt"/>
                <a:ea typeface="+mn-ea"/>
                <a:cs typeface="+mn-cs"/>
              </a:rPr>
              <a:t>We also established reference points. Random guessing gets you 2.5% accuracy, since there are 40 classes. That's our floor, our baseline. The ceiling is 100%, which is theoretically possible but practically impossible with noisy data. Our train-test split is 80-20, which is standard.</a:t>
            </a:r>
          </a:p>
          <a:p>
            <a:r>
              <a:rPr lang="en-US" sz="1200" b="0" i="0" kern="1200">
                <a:solidFill>
                  <a:schemeClr val="tx1"/>
                </a:solidFill>
                <a:effectLst/>
                <a:latin typeface="+mn-lt"/>
                <a:ea typeface="+mn-ea"/>
                <a:cs typeface="+mn-cs"/>
              </a:rPr>
              <a:t>Everything we show you should be compared against these benchmarks.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Logistic Regression at 41.3%: Text classification in TF-IDF space is nearly linear. What does that mean? A handful of distinctive words per subreddit is enough to identify it. If you see "dragon," "throne," "Targaryen," you're probably in r/</a:t>
            </a:r>
            <a:r>
              <a:rPr lang="en-US" sz="1200" b="0" i="0" kern="1200" err="1">
                <a:solidFill>
                  <a:schemeClr val="tx1"/>
                </a:solidFill>
                <a:effectLst/>
                <a:latin typeface="+mn-lt"/>
                <a:ea typeface="+mn-ea"/>
                <a:cs typeface="+mn-cs"/>
              </a:rPr>
              <a:t>gameofthrones</a:t>
            </a:r>
            <a:r>
              <a:rPr lang="en-US" sz="1200" b="0" i="0" kern="1200">
                <a:solidFill>
                  <a:schemeClr val="tx1"/>
                </a:solidFill>
                <a:effectLst/>
                <a:latin typeface="+mn-lt"/>
                <a:ea typeface="+mn-ea"/>
                <a:cs typeface="+mn-cs"/>
              </a:rPr>
              <a:t>. Logistic regression is built exactly for this. It learns which words push toward which class. With sparse, high-dimensional features, linear separability actually works well. TF-IDF features plus logistic regression is a textbook match.</a:t>
            </a:r>
          </a:p>
          <a:p>
            <a:r>
              <a:rPr lang="en-US" sz="1200" b="0" i="0" kern="1200">
                <a:solidFill>
                  <a:schemeClr val="tx1"/>
                </a:solidFill>
                <a:effectLst/>
                <a:latin typeface="+mn-lt"/>
                <a:ea typeface="+mn-ea"/>
                <a:cs typeface="+mn-cs"/>
              </a:rPr>
              <a:t>Naive Bayes at 35.2%: The independence assumption is false. Words don't occur independently. "LeBron" and "Lakers" appear together. But this false assumption is actually useful. It keeps the math simple and helps the model generalize. Naive Bayes underperforms logistic regression by about 6 percentage points because it can't capture anti-correlations. If "Targaryen" predicts Game of Thrones but "spoiler warning" makes it less likely, logistic regression learns both relationships. Naive Bayes treats them independently and misses the signal.</a:t>
            </a:r>
          </a:p>
          <a:p>
            <a:r>
              <a:rPr lang="en-US" sz="1200" b="0" i="0" kern="1200">
                <a:solidFill>
                  <a:schemeClr val="tx1"/>
                </a:solidFill>
                <a:effectLst/>
                <a:latin typeface="+mn-lt"/>
                <a:ea typeface="+mn-ea"/>
                <a:cs typeface="+mn-cs"/>
              </a:rPr>
              <a:t>MLP Neural Network at 30.9%: This is where expectations fail. The neural network has more capacity. It can learn non-linear combinations of features. But sparse TF-IDF input doesn't benefit from that capacity. There's no embedding layer converting sparse vectors into dense learned representations. The network essentially learns linear combinations anyway, just with more overhead and less training time. Fifty iterations wasn't enough to beat logistic regression. With more training time, dropout, and better tuning, it might work better. But as set up, the neural network hurts performance.</a:t>
            </a:r>
          </a:p>
          <a:p>
            <a:r>
              <a:rPr lang="en-US" sz="1200" b="0" i="0" kern="1200">
                <a:solidFill>
                  <a:schemeClr val="tx1"/>
                </a:solidFill>
                <a:effectLst/>
                <a:latin typeface="+mn-lt"/>
                <a:ea typeface="+mn-ea"/>
                <a:cs typeface="+mn-cs"/>
              </a:rPr>
              <a:t>Decision Tree at 5.8%: Pure combinatorial explosion. A tree of depth 8 creates 256 regions. For 40 classes across 15,000 features, 256 regions is way too few. Each leaf node represents a mixture of many classes. The tree fragments so badly it's nearly random. Single trees aren't built for high-dimensional problems. Random forests or gradient-boosted trees would fix this, but one tree is the wrong tool.</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One advantage of logistic regression is that it's interpretable. We can extract the weights, see which words push toward each class, and understand what the model actually learned.</a:t>
            </a:r>
          </a:p>
          <a:p>
            <a:r>
              <a:rPr lang="en-US" sz="1200" b="0" i="0" kern="1200">
                <a:solidFill>
                  <a:schemeClr val="tx1"/>
                </a:solidFill>
                <a:effectLst/>
                <a:latin typeface="+mn-lt"/>
                <a:ea typeface="+mn-ea"/>
                <a:cs typeface="+mn-cs"/>
              </a:rPr>
              <a:t>Looking at specific subreddits: r/</a:t>
            </a:r>
            <a:r>
              <a:rPr lang="en-US" sz="1200" b="0" i="0" kern="1200" err="1">
                <a:solidFill>
                  <a:schemeClr val="tx1"/>
                </a:solidFill>
                <a:effectLst/>
                <a:latin typeface="+mn-lt"/>
                <a:ea typeface="+mn-ea"/>
                <a:cs typeface="+mn-cs"/>
              </a:rPr>
              <a:t>gameofthrones</a:t>
            </a:r>
            <a:r>
              <a:rPr lang="en-US" sz="1200" b="0" i="0" kern="1200">
                <a:solidFill>
                  <a:schemeClr val="tx1"/>
                </a:solidFill>
                <a:effectLst/>
                <a:latin typeface="+mn-lt"/>
                <a:ea typeface="+mn-ea"/>
                <a:cs typeface="+mn-cs"/>
              </a:rPr>
              <a:t> has high weights for character names like Podrick, Tormund, Meera. That's the Game of Thrones universe. r/</a:t>
            </a:r>
            <a:r>
              <a:rPr lang="en-US" sz="1200" b="0" i="0" kern="1200" err="1">
                <a:solidFill>
                  <a:schemeClr val="tx1"/>
                </a:solidFill>
                <a:effectLst/>
                <a:latin typeface="+mn-lt"/>
                <a:ea typeface="+mn-ea"/>
                <a:cs typeface="+mn-cs"/>
              </a:rPr>
              <a:t>nba</a:t>
            </a:r>
            <a:r>
              <a:rPr lang="en-US" sz="1200" b="0" i="0" kern="1200">
                <a:solidFill>
                  <a:schemeClr val="tx1"/>
                </a:solidFill>
                <a:effectLst/>
                <a:latin typeface="+mn-lt"/>
                <a:ea typeface="+mn-ea"/>
                <a:cs typeface="+mn-cs"/>
              </a:rPr>
              <a:t> shows player names: Harden, Giannis, Kyrie. The actual basketball players. r/</a:t>
            </a:r>
            <a:r>
              <a:rPr lang="en-US" sz="1200" b="0" i="0" kern="1200" err="1">
                <a:solidFill>
                  <a:schemeClr val="tx1"/>
                </a:solidFill>
                <a:effectLst/>
                <a:latin typeface="+mn-lt"/>
                <a:ea typeface="+mn-ea"/>
                <a:cs typeface="+mn-cs"/>
              </a:rPr>
              <a:t>AmItheAsshole</a:t>
            </a:r>
            <a:r>
              <a:rPr lang="en-US" sz="1200" b="0" i="0" kern="1200">
                <a:solidFill>
                  <a:schemeClr val="tx1"/>
                </a:solidFill>
                <a:effectLst/>
                <a:latin typeface="+mn-lt"/>
                <a:ea typeface="+mn-ea"/>
                <a:cs typeface="+mn-cs"/>
              </a:rPr>
              <a:t> shows community slang: YTA means "You're The Asshole," NTA is "Not The Asshole," ESH is "Everyone Sucks Here." That's inside vocabulary. r/</a:t>
            </a:r>
            <a:r>
              <a:rPr lang="en-US" sz="1200" b="0" i="0" kern="1200" err="1">
                <a:solidFill>
                  <a:schemeClr val="tx1"/>
                </a:solidFill>
                <a:effectLst/>
                <a:latin typeface="+mn-lt"/>
                <a:ea typeface="+mn-ea"/>
                <a:cs typeface="+mn-cs"/>
              </a:rPr>
              <a:t>relationship_advice</a:t>
            </a:r>
            <a:r>
              <a:rPr lang="en-US" sz="1200" b="0" i="0" kern="1200">
                <a:solidFill>
                  <a:schemeClr val="tx1"/>
                </a:solidFill>
                <a:effectLst/>
                <a:latin typeface="+mn-lt"/>
                <a:ea typeface="+mn-ea"/>
                <a:cs typeface="+mn-cs"/>
              </a:rPr>
              <a:t> has words like "communicate," "boundaries," "therapy."</a:t>
            </a:r>
          </a:p>
          <a:p>
            <a:r>
              <a:rPr lang="en-US" sz="1200" b="0" i="0" kern="1200">
                <a:solidFill>
                  <a:schemeClr val="tx1"/>
                </a:solidFill>
                <a:effectLst/>
                <a:latin typeface="+mn-lt"/>
                <a:ea typeface="+mn-ea"/>
                <a:cs typeface="+mn-cs"/>
              </a:rPr>
              <a:t>This matters. The model isn't a black box. It's not learning noise. It's picking up genuinely distinctive vocabulary from each community. The top predictors make sense. You can see why each word matters.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Three main takeaways from this project.</a:t>
            </a:r>
          </a:p>
          <a:p>
            <a:r>
              <a:rPr lang="en-US" sz="1200" b="0" i="0" kern="1200">
                <a:solidFill>
                  <a:schemeClr val="tx1"/>
                </a:solidFill>
                <a:effectLst/>
                <a:latin typeface="+mn-lt"/>
                <a:ea typeface="+mn-ea"/>
                <a:cs typeface="+mn-cs"/>
              </a:rPr>
              <a:t>First: the right tool beats the fancy tool. We tested four models with different levels of sophistication. The simplest one won. That doesn't mean neural networks are bad. It means we didn't have the right setup for neural networks. If we used word embeddings instead of TF-IDF, the story changes. But on sparse, high-dimensional text features, linear methods are hard to beat. The lesson generalizes: always start with simple baselines.</a:t>
            </a:r>
          </a:p>
          <a:p>
            <a:r>
              <a:rPr lang="en-US" sz="1200" b="0" i="0" kern="1200">
                <a:solidFill>
                  <a:schemeClr val="tx1"/>
                </a:solidFill>
                <a:effectLst/>
                <a:latin typeface="+mn-lt"/>
                <a:ea typeface="+mn-ea"/>
                <a:cs typeface="+mn-cs"/>
              </a:rPr>
              <a:t>Second: 41% accuracy across 40 classes is genuine learning. Random guessing is 2.5%. We're 16 times better. That's empirically strong.</a:t>
            </a:r>
          </a:p>
          <a:p>
            <a:r>
              <a:rPr lang="en-US" sz="1200" b="0" i="0" kern="1200">
                <a:solidFill>
                  <a:schemeClr val="tx1"/>
                </a:solidFill>
                <a:effectLst/>
                <a:latin typeface="+mn-lt"/>
                <a:ea typeface="+mn-ea"/>
                <a:cs typeface="+mn-cs"/>
              </a:rPr>
              <a:t>Third: the learned patterns are interpretable. The top-weighted words match reality. The model learned what different communities actually write about. That's not overfitting. That's learning real patterns.</a:t>
            </a:r>
          </a:p>
          <a:p>
            <a:r>
              <a:rPr lang="en-US" sz="1200" b="0" i="0" kern="1200">
                <a:solidFill>
                  <a:schemeClr val="tx1"/>
                </a:solidFill>
                <a:effectLst/>
                <a:latin typeface="+mn-lt"/>
                <a:ea typeface="+mn-ea"/>
                <a:cs typeface="+mn-cs"/>
              </a:rPr>
              <a:t>For future work, there's room to improve. Word embeddings like Word2Vec or BERT would capture meaning, not just word counts. That's where neural networks would shine. Bigrams and trigrams would catch phrases like "not the asshole." Better tree ensembles, Random Forests or Gradient Boosted Trees, would massively beat a single decision tree. The MLP needs a fairer comparison: more training time, dropout, maybe an embedding layer before the dense layers.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822960" y="1371600"/>
            <a:ext cx="7772400" cy="320040"/>
          </a:xfrm>
          <a:prstGeom prst="rect">
            <a:avLst/>
          </a:prstGeom>
          <a:noFill/>
          <a:ln/>
        </p:spPr>
        <p:txBody>
          <a:bodyPr wrap="square" lIns="0" tIns="0" rIns="0" bIns="0" rtlCol="0" anchor="ctr"/>
          <a:lstStyle/>
          <a:p>
            <a:pPr marL="0" indent="0">
              <a:buNone/>
            </a:pPr>
            <a:r>
              <a:rPr lang="en-US" sz="1100" b="1" kern="0" spc="600">
                <a:solidFill>
                  <a:srgbClr val="1E3A8A"/>
                </a:solidFill>
                <a:latin typeface="Calibri" pitchFamily="34" charset="0"/>
                <a:ea typeface="Calibri" pitchFamily="34" charset="-122"/>
                <a:cs typeface="Calibri" pitchFamily="34" charset="-120"/>
              </a:rPr>
              <a:t>FINAL PROJECT  ·  PYSPARK ML</a:t>
            </a:r>
            <a:endParaRPr lang="en-US" sz="1100"/>
          </a:p>
        </p:txBody>
      </p:sp>
      <p:sp>
        <p:nvSpPr>
          <p:cNvPr id="4" name="Text 2"/>
          <p:cNvSpPr/>
          <p:nvPr/>
        </p:nvSpPr>
        <p:spPr>
          <a:xfrm>
            <a:off x="822960" y="1783080"/>
            <a:ext cx="8138160" cy="1645920"/>
          </a:xfrm>
          <a:prstGeom prst="rect">
            <a:avLst/>
          </a:prstGeom>
          <a:noFill/>
          <a:ln/>
        </p:spPr>
        <p:txBody>
          <a:bodyPr wrap="square" lIns="0" tIns="0" rIns="0" bIns="0" rtlCol="0" anchor="t"/>
          <a:lstStyle/>
          <a:p>
            <a:pPr marL="0" indent="0">
              <a:buNone/>
            </a:pPr>
            <a:r>
              <a:rPr lang="en-US" sz="3400" b="1">
                <a:solidFill>
                  <a:srgbClr val="0F172A"/>
                </a:solidFill>
                <a:latin typeface="Georgia" pitchFamily="34" charset="0"/>
                <a:ea typeface="Georgia" pitchFamily="34" charset="-122"/>
                <a:cs typeface="Georgia" pitchFamily="34" charset="-120"/>
              </a:rPr>
              <a:t>Classifying Reddit Comments</a:t>
            </a:r>
            <a:endParaRPr lang="en-US" sz="3400"/>
          </a:p>
          <a:p>
            <a:pPr marL="0" indent="0">
              <a:buNone/>
            </a:pPr>
            <a:r>
              <a:rPr lang="en-US" sz="3400" b="1">
                <a:solidFill>
                  <a:srgbClr val="0F172A"/>
                </a:solidFill>
                <a:latin typeface="Georgia" pitchFamily="34" charset="0"/>
                <a:ea typeface="Georgia" pitchFamily="34" charset="-122"/>
                <a:cs typeface="Georgia" pitchFamily="34" charset="-120"/>
              </a:rPr>
              <a:t>Across 40 Subreddits</a:t>
            </a:r>
            <a:endParaRPr lang="en-US" sz="3400"/>
          </a:p>
        </p:txBody>
      </p:sp>
      <p:sp>
        <p:nvSpPr>
          <p:cNvPr id="5" name="Text 3"/>
          <p:cNvSpPr/>
          <p:nvPr/>
        </p:nvSpPr>
        <p:spPr>
          <a:xfrm>
            <a:off x="822960" y="3520440"/>
            <a:ext cx="7772400" cy="365760"/>
          </a:xfrm>
          <a:prstGeom prst="rect">
            <a:avLst/>
          </a:prstGeom>
          <a:noFill/>
          <a:ln/>
        </p:spPr>
        <p:txBody>
          <a:bodyPr wrap="square" lIns="0" tIns="0" rIns="0" bIns="0" rtlCol="0" anchor="ctr"/>
          <a:lstStyle/>
          <a:p>
            <a:pPr marL="0" indent="0">
              <a:buNone/>
            </a:pPr>
            <a:r>
              <a:rPr lang="en-US" sz="1600" i="1">
                <a:solidFill>
                  <a:srgbClr val="334155"/>
                </a:solidFill>
                <a:latin typeface="Calibri" pitchFamily="34" charset="0"/>
                <a:ea typeface="Calibri" pitchFamily="34" charset="-122"/>
                <a:cs typeface="Calibri" pitchFamily="34" charset="-120"/>
              </a:rPr>
              <a:t>A comparison of four machine learning models on 500,000 comments</a:t>
            </a:r>
            <a:endParaRPr lang="en-US" sz="1600"/>
          </a:p>
        </p:txBody>
      </p:sp>
      <p:sp>
        <p:nvSpPr>
          <p:cNvPr id="6" name="Shape 4"/>
          <p:cNvSpPr/>
          <p:nvPr/>
        </p:nvSpPr>
        <p:spPr>
          <a:xfrm>
            <a:off x="822960" y="4069080"/>
            <a:ext cx="1280160" cy="0"/>
          </a:xfrm>
          <a:prstGeom prst="line">
            <a:avLst/>
          </a:prstGeom>
          <a:noFill/>
          <a:ln w="25400">
            <a:solidFill>
              <a:srgbClr val="EA580C"/>
            </a:solidFill>
            <a:prstDash val="solid"/>
          </a:ln>
        </p:spPr>
        <p:txBody>
          <a:bodyPr/>
          <a:lstStyle/>
          <a:p>
            <a:endParaRPr lang="en-US"/>
          </a:p>
        </p:txBody>
      </p:sp>
      <p:sp>
        <p:nvSpPr>
          <p:cNvPr id="7" name="Text 5"/>
          <p:cNvSpPr/>
          <p:nvPr/>
        </p:nvSpPr>
        <p:spPr>
          <a:xfrm>
            <a:off x="822960" y="4206240"/>
            <a:ext cx="7772400" cy="640080"/>
          </a:xfrm>
          <a:prstGeom prst="rect">
            <a:avLst/>
          </a:prstGeom>
          <a:noFill/>
          <a:ln/>
        </p:spPr>
        <p:txBody>
          <a:bodyPr wrap="square" lIns="0" tIns="0" rIns="0" bIns="0" rtlCol="0" anchor="ctr"/>
          <a:lstStyle/>
          <a:p>
            <a:pPr marL="0" indent="0">
              <a:buNone/>
            </a:pPr>
            <a:r>
              <a:rPr lang="en-US" sz="1100" b="1">
                <a:solidFill>
                  <a:srgbClr val="0F172A"/>
                </a:solidFill>
                <a:latin typeface="Calibri" pitchFamily="34" charset="0"/>
                <a:ea typeface="Calibri" pitchFamily="34" charset="-122"/>
                <a:cs typeface="Calibri" pitchFamily="34" charset="-120"/>
              </a:rPr>
              <a:t>Team Members</a:t>
            </a:r>
            <a:endParaRPr lang="en-US" sz="1100"/>
          </a:p>
          <a:p>
            <a:pPr marL="0" indent="0">
              <a:buNone/>
            </a:pPr>
            <a:r>
              <a:rPr lang="en-US" sz="1100">
                <a:solidFill>
                  <a:srgbClr val="64748B"/>
                </a:solidFill>
                <a:latin typeface="Calibri" pitchFamily="34" charset="0"/>
                <a:ea typeface="Calibri" pitchFamily="34" charset="-122"/>
                <a:cs typeface="Calibri" pitchFamily="34" charset="-120"/>
              </a:rPr>
              <a:t>Emma, Alia and Victor</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MOTIVATION</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The Problem</a:t>
            </a:r>
            <a:endParaRPr lang="en-US" sz="2800"/>
          </a:p>
        </p:txBody>
      </p:sp>
      <p:sp>
        <p:nvSpPr>
          <p:cNvPr id="5" name="Shape 3"/>
          <p:cNvSpPr/>
          <p:nvPr/>
        </p:nvSpPr>
        <p:spPr>
          <a:xfrm>
            <a:off x="457200" y="1554480"/>
            <a:ext cx="8229600" cy="1097280"/>
          </a:xfrm>
          <a:prstGeom prst="rect">
            <a:avLst/>
          </a:prstGeom>
          <a:solidFill>
            <a:srgbClr val="DBE3F4"/>
          </a:solidFill>
          <a:ln w="12700">
            <a:solidFill>
              <a:srgbClr val="DBE3F4"/>
            </a:solidFill>
            <a:prstDash val="solid"/>
          </a:ln>
        </p:spPr>
        <p:txBody>
          <a:bodyPr/>
          <a:lstStyle/>
          <a:p>
            <a:endParaRPr lang="en-US"/>
          </a:p>
        </p:txBody>
      </p:sp>
      <p:sp>
        <p:nvSpPr>
          <p:cNvPr id="6" name="Text 4"/>
          <p:cNvSpPr/>
          <p:nvPr/>
        </p:nvSpPr>
        <p:spPr>
          <a:xfrm>
            <a:off x="731520" y="1627632"/>
            <a:ext cx="7680960" cy="960120"/>
          </a:xfrm>
          <a:prstGeom prst="rect">
            <a:avLst/>
          </a:prstGeom>
          <a:noFill/>
          <a:ln/>
        </p:spPr>
        <p:txBody>
          <a:bodyPr wrap="square" lIns="0" tIns="0" rIns="0" bIns="0" rtlCol="0" anchor="ctr"/>
          <a:lstStyle/>
          <a:p>
            <a:pPr marL="0" indent="0">
              <a:buNone/>
            </a:pPr>
            <a:r>
              <a:rPr lang="en-US" sz="1100" b="1" kern="0" spc="400">
                <a:solidFill>
                  <a:srgbClr val="1E3A8A"/>
                </a:solidFill>
                <a:latin typeface="Calibri" pitchFamily="34" charset="0"/>
                <a:ea typeface="Calibri" pitchFamily="34" charset="-122"/>
                <a:cs typeface="Calibri" pitchFamily="34" charset="-120"/>
              </a:rPr>
              <a:t>Research question
</a:t>
            </a:r>
            <a:r>
              <a:rPr lang="en-US" sz="1800" i="1">
                <a:solidFill>
                  <a:srgbClr val="0F172A"/>
                </a:solidFill>
                <a:latin typeface="Georgia" pitchFamily="34" charset="0"/>
                <a:ea typeface="Georgia" pitchFamily="34" charset="-122"/>
                <a:cs typeface="Georgia" pitchFamily="34" charset="-120"/>
              </a:rPr>
              <a:t>Given the text of a Reddit comment, can a model predict which of 40 subreddits it came from?</a:t>
            </a:r>
            <a:endParaRPr lang="en-US" sz="1100"/>
          </a:p>
        </p:txBody>
      </p:sp>
      <p:sp>
        <p:nvSpPr>
          <p:cNvPr id="7" name="Text 5"/>
          <p:cNvSpPr/>
          <p:nvPr/>
        </p:nvSpPr>
        <p:spPr>
          <a:xfrm>
            <a:off x="457200" y="2834640"/>
            <a:ext cx="8229600" cy="274320"/>
          </a:xfrm>
          <a:prstGeom prst="rect">
            <a:avLst/>
          </a:prstGeom>
          <a:noFill/>
          <a:ln/>
        </p:spPr>
        <p:txBody>
          <a:bodyPr wrap="square" lIns="0" tIns="0" rIns="0" bIns="0" rtlCol="0" anchor="ctr"/>
          <a:lstStyle/>
          <a:p>
            <a:pPr marL="0" indent="0">
              <a:buNone/>
            </a:pPr>
            <a:r>
              <a:rPr lang="en-US" sz="1200" b="1" kern="0" spc="300">
                <a:solidFill>
                  <a:srgbClr val="1E3A8A"/>
                </a:solidFill>
                <a:latin typeface="Calibri" pitchFamily="34" charset="0"/>
                <a:ea typeface="Calibri" pitchFamily="34" charset="-122"/>
                <a:cs typeface="Calibri" pitchFamily="34" charset="-120"/>
              </a:rPr>
              <a:t>Why it matters</a:t>
            </a:r>
            <a:endParaRPr lang="en-US" sz="1200"/>
          </a:p>
        </p:txBody>
      </p:sp>
      <p:sp>
        <p:nvSpPr>
          <p:cNvPr id="8" name="Shape 6"/>
          <p:cNvSpPr/>
          <p:nvPr/>
        </p:nvSpPr>
        <p:spPr>
          <a:xfrm>
            <a:off x="457200" y="3154680"/>
            <a:ext cx="2606040" cy="1097280"/>
          </a:xfrm>
          <a:prstGeom prst="rect">
            <a:avLst/>
          </a:prstGeom>
          <a:solidFill>
            <a:srgbClr val="FFFFFF"/>
          </a:solidFill>
          <a:ln w="9525">
            <a:solidFill>
              <a:srgbClr val="E2E8F0"/>
            </a:solidFill>
            <a:prstDash val="solid"/>
          </a:ln>
        </p:spPr>
        <p:txBody>
          <a:bodyPr/>
          <a:lstStyle/>
          <a:p>
            <a:endParaRPr lang="en-US"/>
          </a:p>
        </p:txBody>
      </p:sp>
      <p:sp>
        <p:nvSpPr>
          <p:cNvPr id="9" name="Text 7"/>
          <p:cNvSpPr/>
          <p:nvPr/>
        </p:nvSpPr>
        <p:spPr>
          <a:xfrm>
            <a:off x="594360" y="3218688"/>
            <a:ext cx="23317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Content moderation</a:t>
            </a:r>
            <a:endParaRPr lang="en-US" sz="1300"/>
          </a:p>
        </p:txBody>
      </p:sp>
      <p:sp>
        <p:nvSpPr>
          <p:cNvPr id="10" name="Text 8"/>
          <p:cNvSpPr/>
          <p:nvPr/>
        </p:nvSpPr>
        <p:spPr>
          <a:xfrm>
            <a:off x="594360" y="3547872"/>
            <a:ext cx="2331720" cy="68580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Automatically route or flag comments to the right community context.</a:t>
            </a:r>
            <a:endParaRPr lang="en-US" sz="1050"/>
          </a:p>
        </p:txBody>
      </p:sp>
      <p:sp>
        <p:nvSpPr>
          <p:cNvPr id="11" name="Shape 9"/>
          <p:cNvSpPr/>
          <p:nvPr/>
        </p:nvSpPr>
        <p:spPr>
          <a:xfrm>
            <a:off x="3246120" y="3154680"/>
            <a:ext cx="2606040" cy="1097280"/>
          </a:xfrm>
          <a:prstGeom prst="rect">
            <a:avLst/>
          </a:prstGeom>
          <a:solidFill>
            <a:srgbClr val="FFFFFF"/>
          </a:solidFill>
          <a:ln w="9525">
            <a:solidFill>
              <a:srgbClr val="E2E8F0"/>
            </a:solidFill>
            <a:prstDash val="solid"/>
          </a:ln>
        </p:spPr>
        <p:txBody>
          <a:bodyPr/>
          <a:lstStyle/>
          <a:p>
            <a:endParaRPr lang="en-US"/>
          </a:p>
        </p:txBody>
      </p:sp>
      <p:sp>
        <p:nvSpPr>
          <p:cNvPr id="12" name="Text 10"/>
          <p:cNvSpPr/>
          <p:nvPr/>
        </p:nvSpPr>
        <p:spPr>
          <a:xfrm>
            <a:off x="3383280" y="3218688"/>
            <a:ext cx="23317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Recommendation</a:t>
            </a:r>
            <a:endParaRPr lang="en-US" sz="1300"/>
          </a:p>
        </p:txBody>
      </p:sp>
      <p:sp>
        <p:nvSpPr>
          <p:cNvPr id="13" name="Text 11"/>
          <p:cNvSpPr/>
          <p:nvPr/>
        </p:nvSpPr>
        <p:spPr>
          <a:xfrm>
            <a:off x="3383280" y="3547872"/>
            <a:ext cx="2331720" cy="68580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Suggest communities to users based on what they write.</a:t>
            </a:r>
            <a:endParaRPr lang="en-US" sz="1050"/>
          </a:p>
        </p:txBody>
      </p:sp>
      <p:sp>
        <p:nvSpPr>
          <p:cNvPr id="14" name="Shape 12"/>
          <p:cNvSpPr/>
          <p:nvPr/>
        </p:nvSpPr>
        <p:spPr>
          <a:xfrm>
            <a:off x="6035040" y="3154680"/>
            <a:ext cx="2606040" cy="1097280"/>
          </a:xfrm>
          <a:prstGeom prst="rect">
            <a:avLst/>
          </a:prstGeom>
          <a:solidFill>
            <a:srgbClr val="FFFFFF"/>
          </a:solidFill>
          <a:ln w="9525">
            <a:solidFill>
              <a:srgbClr val="E2E8F0"/>
            </a:solidFill>
            <a:prstDash val="solid"/>
          </a:ln>
        </p:spPr>
        <p:txBody>
          <a:bodyPr/>
          <a:lstStyle/>
          <a:p>
            <a:endParaRPr lang="en-US"/>
          </a:p>
        </p:txBody>
      </p:sp>
      <p:sp>
        <p:nvSpPr>
          <p:cNvPr id="15" name="Text 13"/>
          <p:cNvSpPr/>
          <p:nvPr/>
        </p:nvSpPr>
        <p:spPr>
          <a:xfrm>
            <a:off x="6172200" y="3218688"/>
            <a:ext cx="2331720" cy="32004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NLP benchmark</a:t>
            </a:r>
            <a:endParaRPr lang="en-US" sz="1300"/>
          </a:p>
        </p:txBody>
      </p:sp>
      <p:sp>
        <p:nvSpPr>
          <p:cNvPr id="16" name="Text 14"/>
          <p:cNvSpPr/>
          <p:nvPr/>
        </p:nvSpPr>
        <p:spPr>
          <a:xfrm>
            <a:off x="6172200" y="3547872"/>
            <a:ext cx="2331720" cy="68580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A genuinely hard multi-class problem with noisy, short text.</a:t>
            </a:r>
            <a:endParaRPr lang="en-US" sz="1050"/>
          </a:p>
        </p:txBody>
      </p:sp>
      <p:sp>
        <p:nvSpPr>
          <p:cNvPr id="17" name="Shape 15"/>
          <p:cNvSpPr/>
          <p:nvPr/>
        </p:nvSpPr>
        <p:spPr>
          <a:xfrm>
            <a:off x="457200" y="4389120"/>
            <a:ext cx="8229600" cy="384048"/>
          </a:xfrm>
          <a:prstGeom prst="rect">
            <a:avLst/>
          </a:prstGeom>
          <a:solidFill>
            <a:srgbClr val="F8FAFC"/>
          </a:solidFill>
          <a:ln w="9525">
            <a:solidFill>
              <a:srgbClr val="E2E8F0"/>
            </a:solidFill>
            <a:prstDash val="solid"/>
          </a:ln>
        </p:spPr>
        <p:txBody>
          <a:bodyPr/>
          <a:lstStyle/>
          <a:p>
            <a:endParaRPr lang="en-US"/>
          </a:p>
        </p:txBody>
      </p:sp>
      <p:sp>
        <p:nvSpPr>
          <p:cNvPr id="18" name="Text 16"/>
          <p:cNvSpPr/>
          <p:nvPr/>
        </p:nvSpPr>
        <p:spPr>
          <a:xfrm>
            <a:off x="640080" y="4407408"/>
            <a:ext cx="7955280" cy="347472"/>
          </a:xfrm>
          <a:prstGeom prst="rect">
            <a:avLst/>
          </a:prstGeom>
          <a:noFill/>
          <a:ln/>
        </p:spPr>
        <p:txBody>
          <a:bodyPr wrap="square" lIns="0" tIns="0" rIns="0" bIns="0" rtlCol="0" anchor="ctr"/>
          <a:lstStyle/>
          <a:p>
            <a:pPr marL="0" indent="0">
              <a:buNone/>
            </a:pPr>
            <a:r>
              <a:rPr lang="en-US" sz="1100" b="1">
                <a:solidFill>
                  <a:srgbClr val="0F172A"/>
                </a:solidFill>
                <a:latin typeface="Calibri" pitchFamily="34" charset="0"/>
                <a:ea typeface="Calibri" pitchFamily="34" charset="-122"/>
                <a:cs typeface="Calibri" pitchFamily="34" charset="-120"/>
              </a:rPr>
              <a:t>The challenge   </a:t>
            </a:r>
            <a:r>
              <a:rPr lang="en-US" sz="1100">
                <a:solidFill>
                  <a:srgbClr val="334155"/>
                </a:solidFill>
                <a:latin typeface="Calibri" pitchFamily="34" charset="0"/>
                <a:ea typeface="Calibri" pitchFamily="34" charset="-122"/>
                <a:cs typeface="Calibri" pitchFamily="34" charset="-120"/>
              </a:rPr>
              <a:t>40 classes means a random-guess baseline of just </a:t>
            </a:r>
            <a:r>
              <a:rPr lang="en-US" sz="1200" b="1">
                <a:solidFill>
                  <a:srgbClr val="EA580C"/>
                </a:solidFill>
                <a:latin typeface="Calibri" pitchFamily="34" charset="0"/>
                <a:ea typeface="Calibri" pitchFamily="34" charset="-122"/>
                <a:cs typeface="Calibri" pitchFamily="34" charset="-120"/>
              </a:rPr>
              <a:t>2.5%</a:t>
            </a:r>
            <a:r>
              <a:rPr lang="en-US" sz="1100">
                <a:solidFill>
                  <a:srgbClr val="334155"/>
                </a:solidFill>
                <a:latin typeface="Calibri" pitchFamily="34" charset="0"/>
                <a:ea typeface="Calibri" pitchFamily="34" charset="-122"/>
                <a:cs typeface="Calibri" pitchFamily="34" charset="-120"/>
              </a:rPr>
              <a:t>.</a:t>
            </a:r>
            <a:endParaRPr lang="en-US" sz="1100"/>
          </a:p>
        </p:txBody>
      </p:sp>
      <p:sp>
        <p:nvSpPr>
          <p:cNvPr id="19" name="Text 17"/>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20" name="Text 18"/>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2 / 12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DATA</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The Dataset</a:t>
            </a:r>
            <a:endParaRPr lang="en-US" sz="2800"/>
          </a:p>
        </p:txBody>
      </p:sp>
      <p:sp>
        <p:nvSpPr>
          <p:cNvPr id="5" name="Text 3"/>
          <p:cNvSpPr/>
          <p:nvPr/>
        </p:nvSpPr>
        <p:spPr>
          <a:xfrm>
            <a:off x="457200" y="1417320"/>
            <a:ext cx="2011680" cy="685800"/>
          </a:xfrm>
          <a:prstGeom prst="rect">
            <a:avLst/>
          </a:prstGeom>
          <a:noFill/>
          <a:ln/>
        </p:spPr>
        <p:txBody>
          <a:bodyPr wrap="square" lIns="0" tIns="0" rIns="0" bIns="0" rtlCol="0" anchor="ctr"/>
          <a:lstStyle/>
          <a:p>
            <a:pPr marL="0" indent="0" algn="l">
              <a:buNone/>
            </a:pPr>
            <a:r>
              <a:rPr lang="en-US" sz="4400" b="1">
                <a:solidFill>
                  <a:srgbClr val="1E3A8A"/>
                </a:solidFill>
                <a:latin typeface="Georgia" pitchFamily="34" charset="0"/>
                <a:ea typeface="Georgia" pitchFamily="34" charset="-122"/>
                <a:cs typeface="Georgia" pitchFamily="34" charset="-120"/>
              </a:rPr>
              <a:t>500K</a:t>
            </a:r>
            <a:endParaRPr lang="en-US" sz="4400"/>
          </a:p>
        </p:txBody>
      </p:sp>
      <p:sp>
        <p:nvSpPr>
          <p:cNvPr id="6" name="Text 4"/>
          <p:cNvSpPr/>
          <p:nvPr/>
        </p:nvSpPr>
        <p:spPr>
          <a:xfrm>
            <a:off x="457200" y="2130552"/>
            <a:ext cx="2286000" cy="274320"/>
          </a:xfrm>
          <a:prstGeom prst="rect">
            <a:avLst/>
          </a:prstGeom>
          <a:noFill/>
          <a:ln/>
        </p:spPr>
        <p:txBody>
          <a:bodyPr wrap="square" lIns="0" tIns="0" rIns="0" bIns="0" rtlCol="0" anchor="t"/>
          <a:lstStyle/>
          <a:p>
            <a:pPr marL="0" indent="0">
              <a:buNone/>
            </a:pPr>
            <a:r>
              <a:rPr lang="en-US" sz="1100">
                <a:solidFill>
                  <a:srgbClr val="64748B"/>
                </a:solidFill>
                <a:latin typeface="Calibri" pitchFamily="34" charset="0"/>
                <a:ea typeface="Calibri" pitchFamily="34" charset="-122"/>
                <a:cs typeface="Calibri" pitchFamily="34" charset="-120"/>
              </a:rPr>
              <a:t>Reddit comments</a:t>
            </a:r>
            <a:endParaRPr lang="en-US" sz="1100"/>
          </a:p>
        </p:txBody>
      </p:sp>
      <p:sp>
        <p:nvSpPr>
          <p:cNvPr id="7" name="Text 5"/>
          <p:cNvSpPr/>
          <p:nvPr/>
        </p:nvSpPr>
        <p:spPr>
          <a:xfrm>
            <a:off x="457200" y="2514600"/>
            <a:ext cx="2011680" cy="685800"/>
          </a:xfrm>
          <a:prstGeom prst="rect">
            <a:avLst/>
          </a:prstGeom>
          <a:noFill/>
          <a:ln/>
        </p:spPr>
        <p:txBody>
          <a:bodyPr wrap="square" lIns="0" tIns="0" rIns="0" bIns="0" rtlCol="0" anchor="ctr"/>
          <a:lstStyle/>
          <a:p>
            <a:pPr marL="0" indent="0" algn="l">
              <a:buNone/>
            </a:pPr>
            <a:r>
              <a:rPr lang="en-US" sz="4400" b="1">
                <a:solidFill>
                  <a:srgbClr val="1E3A8A"/>
                </a:solidFill>
                <a:latin typeface="Georgia" pitchFamily="34" charset="0"/>
                <a:ea typeface="Georgia" pitchFamily="34" charset="-122"/>
                <a:cs typeface="Georgia" pitchFamily="34" charset="-120"/>
              </a:rPr>
              <a:t>40</a:t>
            </a:r>
            <a:endParaRPr lang="en-US" sz="4400"/>
          </a:p>
        </p:txBody>
      </p:sp>
      <p:sp>
        <p:nvSpPr>
          <p:cNvPr id="8" name="Text 6"/>
          <p:cNvSpPr/>
          <p:nvPr/>
        </p:nvSpPr>
        <p:spPr>
          <a:xfrm>
            <a:off x="457200" y="3227832"/>
            <a:ext cx="2286000" cy="274320"/>
          </a:xfrm>
          <a:prstGeom prst="rect">
            <a:avLst/>
          </a:prstGeom>
          <a:noFill/>
          <a:ln/>
        </p:spPr>
        <p:txBody>
          <a:bodyPr wrap="square" lIns="0" tIns="0" rIns="0" bIns="0" rtlCol="0" anchor="t"/>
          <a:lstStyle/>
          <a:p>
            <a:pPr marL="0" indent="0">
              <a:buNone/>
            </a:pPr>
            <a:r>
              <a:rPr lang="en-US" sz="1100">
                <a:solidFill>
                  <a:srgbClr val="64748B"/>
                </a:solidFill>
                <a:latin typeface="Calibri" pitchFamily="34" charset="0"/>
                <a:ea typeface="Calibri" pitchFamily="34" charset="-122"/>
                <a:cs typeface="Calibri" pitchFamily="34" charset="-120"/>
              </a:rPr>
              <a:t>Subreddits (classes)</a:t>
            </a:r>
            <a:endParaRPr lang="en-US" sz="1100"/>
          </a:p>
        </p:txBody>
      </p:sp>
      <p:sp>
        <p:nvSpPr>
          <p:cNvPr id="9" name="Text 7"/>
          <p:cNvSpPr/>
          <p:nvPr/>
        </p:nvSpPr>
        <p:spPr>
          <a:xfrm>
            <a:off x="457200" y="3611880"/>
            <a:ext cx="2011680" cy="685800"/>
          </a:xfrm>
          <a:prstGeom prst="rect">
            <a:avLst/>
          </a:prstGeom>
          <a:noFill/>
          <a:ln/>
        </p:spPr>
        <p:txBody>
          <a:bodyPr wrap="square" lIns="0" tIns="0" rIns="0" bIns="0" rtlCol="0" anchor="ctr"/>
          <a:lstStyle/>
          <a:p>
            <a:pPr marL="0" indent="0" algn="l">
              <a:buNone/>
            </a:pPr>
            <a:r>
              <a:rPr lang="en-US" sz="4400" b="1">
                <a:solidFill>
                  <a:srgbClr val="1E3A8A"/>
                </a:solidFill>
                <a:latin typeface="Georgia" pitchFamily="34" charset="0"/>
                <a:ea typeface="Georgia" pitchFamily="34" charset="-122"/>
                <a:cs typeface="Georgia" pitchFamily="34" charset="-120"/>
              </a:rPr>
              <a:t>4</a:t>
            </a:r>
            <a:endParaRPr lang="en-US" sz="4400"/>
          </a:p>
        </p:txBody>
      </p:sp>
      <p:sp>
        <p:nvSpPr>
          <p:cNvPr id="10" name="Text 8"/>
          <p:cNvSpPr/>
          <p:nvPr/>
        </p:nvSpPr>
        <p:spPr>
          <a:xfrm>
            <a:off x="457200" y="4325112"/>
            <a:ext cx="2286000" cy="274320"/>
          </a:xfrm>
          <a:prstGeom prst="rect">
            <a:avLst/>
          </a:prstGeom>
          <a:noFill/>
          <a:ln/>
        </p:spPr>
        <p:txBody>
          <a:bodyPr wrap="square" lIns="0" tIns="0" rIns="0" bIns="0" rtlCol="0" anchor="t"/>
          <a:lstStyle/>
          <a:p>
            <a:pPr marL="0" indent="0">
              <a:buNone/>
            </a:pPr>
            <a:r>
              <a:rPr lang="en-US" sz="1100">
                <a:solidFill>
                  <a:srgbClr val="64748B"/>
                </a:solidFill>
                <a:latin typeface="Calibri" pitchFamily="34" charset="0"/>
                <a:ea typeface="Calibri" pitchFamily="34" charset="-122"/>
                <a:cs typeface="Calibri" pitchFamily="34" charset="-120"/>
              </a:rPr>
              <a:t>Features used</a:t>
            </a:r>
            <a:endParaRPr lang="en-US" sz="1100"/>
          </a:p>
        </p:txBody>
      </p:sp>
      <p:sp>
        <p:nvSpPr>
          <p:cNvPr id="11" name="Shape 9"/>
          <p:cNvSpPr/>
          <p:nvPr/>
        </p:nvSpPr>
        <p:spPr>
          <a:xfrm>
            <a:off x="3291840" y="1417320"/>
            <a:ext cx="5394960" cy="3246120"/>
          </a:xfrm>
          <a:prstGeom prst="rect">
            <a:avLst/>
          </a:prstGeom>
          <a:solidFill>
            <a:srgbClr val="F8FAFC"/>
          </a:solidFill>
          <a:ln w="9525">
            <a:solidFill>
              <a:srgbClr val="E2E8F0"/>
            </a:solidFill>
            <a:prstDash val="solid"/>
          </a:ln>
        </p:spPr>
        <p:txBody>
          <a:bodyPr/>
          <a:lstStyle/>
          <a:p>
            <a:endParaRPr lang="en-US"/>
          </a:p>
        </p:txBody>
      </p:sp>
      <p:sp>
        <p:nvSpPr>
          <p:cNvPr id="12" name="Text 10"/>
          <p:cNvSpPr/>
          <p:nvPr/>
        </p:nvSpPr>
        <p:spPr>
          <a:xfrm>
            <a:off x="3520440" y="1554480"/>
            <a:ext cx="493776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FIELDS USED</a:t>
            </a:r>
            <a:endParaRPr lang="en-US" sz="1000"/>
          </a:p>
        </p:txBody>
      </p:sp>
      <p:sp>
        <p:nvSpPr>
          <p:cNvPr id="13" name="Text 11"/>
          <p:cNvSpPr/>
          <p:nvPr/>
        </p:nvSpPr>
        <p:spPr>
          <a:xfrm>
            <a:off x="3520440" y="1874520"/>
            <a:ext cx="1554480" cy="274320"/>
          </a:xfrm>
          <a:prstGeom prst="rect">
            <a:avLst/>
          </a:prstGeom>
          <a:noFill/>
          <a:ln/>
        </p:spPr>
        <p:txBody>
          <a:bodyPr wrap="square" lIns="0" tIns="0" rIns="0" bIns="0" rtlCol="0" anchor="ctr"/>
          <a:lstStyle/>
          <a:p>
            <a:pPr marL="0" indent="0">
              <a:buNone/>
            </a:pPr>
            <a:r>
              <a:rPr lang="en-US" sz="1200" b="1">
                <a:solidFill>
                  <a:srgbClr val="1E3A8A"/>
                </a:solidFill>
                <a:latin typeface="Consolas" pitchFamily="34" charset="0"/>
                <a:ea typeface="Consolas" pitchFamily="34" charset="-122"/>
                <a:cs typeface="Consolas" pitchFamily="34" charset="-120"/>
              </a:rPr>
              <a:t>body</a:t>
            </a:r>
            <a:endParaRPr lang="en-US" sz="1200"/>
          </a:p>
        </p:txBody>
      </p:sp>
      <p:sp>
        <p:nvSpPr>
          <p:cNvPr id="14" name="Text 12"/>
          <p:cNvSpPr/>
          <p:nvPr/>
        </p:nvSpPr>
        <p:spPr>
          <a:xfrm>
            <a:off x="5074920" y="1874520"/>
            <a:ext cx="3520440" cy="2743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The raw comment text — our main input</a:t>
            </a:r>
            <a:endParaRPr lang="en-US" sz="1100"/>
          </a:p>
        </p:txBody>
      </p:sp>
      <p:sp>
        <p:nvSpPr>
          <p:cNvPr id="15" name="Text 13"/>
          <p:cNvSpPr/>
          <p:nvPr/>
        </p:nvSpPr>
        <p:spPr>
          <a:xfrm>
            <a:off x="3520440" y="2240280"/>
            <a:ext cx="1554480" cy="274320"/>
          </a:xfrm>
          <a:prstGeom prst="rect">
            <a:avLst/>
          </a:prstGeom>
          <a:noFill/>
          <a:ln/>
        </p:spPr>
        <p:txBody>
          <a:bodyPr wrap="square" lIns="0" tIns="0" rIns="0" bIns="0" rtlCol="0" anchor="ctr"/>
          <a:lstStyle/>
          <a:p>
            <a:pPr marL="0" indent="0">
              <a:buNone/>
            </a:pPr>
            <a:r>
              <a:rPr lang="en-US" sz="1200" b="1">
                <a:solidFill>
                  <a:srgbClr val="1E3A8A"/>
                </a:solidFill>
                <a:latin typeface="Consolas" pitchFamily="34" charset="0"/>
                <a:ea typeface="Consolas" pitchFamily="34" charset="-122"/>
                <a:cs typeface="Consolas" pitchFamily="34" charset="-120"/>
              </a:rPr>
              <a:t>subreddit</a:t>
            </a:r>
            <a:endParaRPr lang="en-US" sz="1200"/>
          </a:p>
        </p:txBody>
      </p:sp>
      <p:sp>
        <p:nvSpPr>
          <p:cNvPr id="16" name="Text 14"/>
          <p:cNvSpPr/>
          <p:nvPr/>
        </p:nvSpPr>
        <p:spPr>
          <a:xfrm>
            <a:off x="5074920" y="2240280"/>
            <a:ext cx="3520440" cy="2743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The community label — what we predict</a:t>
            </a:r>
            <a:endParaRPr lang="en-US" sz="1100"/>
          </a:p>
        </p:txBody>
      </p:sp>
      <p:sp>
        <p:nvSpPr>
          <p:cNvPr id="17" name="Text 15"/>
          <p:cNvSpPr/>
          <p:nvPr/>
        </p:nvSpPr>
        <p:spPr>
          <a:xfrm>
            <a:off x="3520440" y="2606040"/>
            <a:ext cx="1554480" cy="274320"/>
          </a:xfrm>
          <a:prstGeom prst="rect">
            <a:avLst/>
          </a:prstGeom>
          <a:noFill/>
          <a:ln/>
        </p:spPr>
        <p:txBody>
          <a:bodyPr wrap="square" lIns="0" tIns="0" rIns="0" bIns="0" rtlCol="0" anchor="ctr"/>
          <a:lstStyle/>
          <a:p>
            <a:pPr marL="0" indent="0">
              <a:buNone/>
            </a:pPr>
            <a:r>
              <a:rPr lang="en-US" sz="1200" b="1">
                <a:solidFill>
                  <a:srgbClr val="1E3A8A"/>
                </a:solidFill>
                <a:latin typeface="Consolas" pitchFamily="34" charset="0"/>
                <a:ea typeface="Consolas" pitchFamily="34" charset="-122"/>
                <a:cs typeface="Consolas" pitchFamily="34" charset="-120"/>
              </a:rPr>
              <a:t>score</a:t>
            </a:r>
            <a:endParaRPr lang="en-US" sz="1200"/>
          </a:p>
        </p:txBody>
      </p:sp>
      <p:sp>
        <p:nvSpPr>
          <p:cNvPr id="18" name="Text 16"/>
          <p:cNvSpPr/>
          <p:nvPr/>
        </p:nvSpPr>
        <p:spPr>
          <a:xfrm>
            <a:off x="5074920" y="2606040"/>
            <a:ext cx="3520440" cy="2743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Net upvotes (numeric)</a:t>
            </a:r>
            <a:endParaRPr lang="en-US" sz="1100"/>
          </a:p>
        </p:txBody>
      </p:sp>
      <p:sp>
        <p:nvSpPr>
          <p:cNvPr id="19" name="Text 17"/>
          <p:cNvSpPr/>
          <p:nvPr/>
        </p:nvSpPr>
        <p:spPr>
          <a:xfrm>
            <a:off x="3520440" y="2971800"/>
            <a:ext cx="1554480" cy="274320"/>
          </a:xfrm>
          <a:prstGeom prst="rect">
            <a:avLst/>
          </a:prstGeom>
          <a:noFill/>
          <a:ln/>
        </p:spPr>
        <p:txBody>
          <a:bodyPr wrap="square" lIns="0" tIns="0" rIns="0" bIns="0" rtlCol="0" anchor="ctr"/>
          <a:lstStyle/>
          <a:p>
            <a:pPr marL="0" indent="0">
              <a:buNone/>
            </a:pPr>
            <a:r>
              <a:rPr lang="en-US" sz="1200" b="1">
                <a:solidFill>
                  <a:srgbClr val="1E3A8A"/>
                </a:solidFill>
                <a:latin typeface="Consolas" pitchFamily="34" charset="0"/>
                <a:ea typeface="Consolas" pitchFamily="34" charset="-122"/>
                <a:cs typeface="Consolas" pitchFamily="34" charset="-120"/>
              </a:rPr>
              <a:t>controversiality</a:t>
            </a:r>
            <a:endParaRPr lang="en-US" sz="1200"/>
          </a:p>
        </p:txBody>
      </p:sp>
      <p:sp>
        <p:nvSpPr>
          <p:cNvPr id="20" name="Text 18"/>
          <p:cNvSpPr/>
          <p:nvPr/>
        </p:nvSpPr>
        <p:spPr>
          <a:xfrm>
            <a:off x="5074920" y="2971800"/>
            <a:ext cx="3520440" cy="2743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Binary flag for controversial comments</a:t>
            </a:r>
            <a:endParaRPr lang="en-US" sz="1100"/>
          </a:p>
        </p:txBody>
      </p:sp>
      <p:sp>
        <p:nvSpPr>
          <p:cNvPr id="21" name="Shape 19"/>
          <p:cNvSpPr/>
          <p:nvPr/>
        </p:nvSpPr>
        <p:spPr>
          <a:xfrm>
            <a:off x="3520440" y="3520440"/>
            <a:ext cx="4937760" cy="0"/>
          </a:xfrm>
          <a:prstGeom prst="line">
            <a:avLst/>
          </a:prstGeom>
          <a:noFill/>
          <a:ln w="9525">
            <a:solidFill>
              <a:srgbClr val="E2E8F0"/>
            </a:solidFill>
            <a:prstDash val="solid"/>
          </a:ln>
        </p:spPr>
        <p:txBody>
          <a:bodyPr/>
          <a:lstStyle/>
          <a:p>
            <a:endParaRPr lang="en-US"/>
          </a:p>
        </p:txBody>
      </p:sp>
      <p:sp>
        <p:nvSpPr>
          <p:cNvPr id="22" name="Text 20"/>
          <p:cNvSpPr/>
          <p:nvPr/>
        </p:nvSpPr>
        <p:spPr>
          <a:xfrm>
            <a:off x="3520440" y="3657600"/>
            <a:ext cx="493776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SOURCE &amp; TOOLING</a:t>
            </a:r>
            <a:endParaRPr lang="en-US" sz="1000"/>
          </a:p>
        </p:txBody>
      </p:sp>
      <p:sp>
        <p:nvSpPr>
          <p:cNvPr id="23" name="Text 21"/>
          <p:cNvSpPr/>
          <p:nvPr/>
        </p:nvSpPr>
        <p:spPr>
          <a:xfrm>
            <a:off x="3520440" y="3950208"/>
            <a:ext cx="4937760" cy="685800"/>
          </a:xfrm>
          <a:prstGeom prst="rect">
            <a:avLst/>
          </a:prstGeom>
          <a:noFill/>
          <a:ln/>
        </p:spPr>
        <p:txBody>
          <a:bodyPr wrap="square" lIns="0" tIns="0" rIns="0" bIns="0" rtlCol="0" anchor="t"/>
          <a:lstStyle/>
          <a:p>
            <a:pPr marL="0" indent="0">
              <a:buNone/>
            </a:pPr>
            <a:r>
              <a:rPr lang="en-US" sz="1100">
                <a:solidFill>
                  <a:srgbClr val="334155"/>
                </a:solidFill>
                <a:latin typeface="Calibri" pitchFamily="34" charset="0"/>
                <a:ea typeface="Calibri" pitchFamily="34" charset="-122"/>
                <a:cs typeface="Calibri" pitchFamily="34" charset="-120"/>
              </a:rPr>
              <a:t>Stored on AWS S3 · processed with PySpark on AWS EMR</a:t>
            </a:r>
            <a:endParaRPr lang="en-US" sz="1100"/>
          </a:p>
          <a:p>
            <a:pPr marL="0" indent="0">
              <a:buNone/>
            </a:pPr>
            <a:r>
              <a:rPr lang="en-US" sz="1100">
                <a:solidFill>
                  <a:srgbClr val="334155"/>
                </a:solidFill>
                <a:latin typeface="Calibri" pitchFamily="34" charset="0"/>
                <a:ea typeface="Calibri" pitchFamily="34" charset="-122"/>
                <a:cs typeface="Calibri" pitchFamily="34" charset="-120"/>
              </a:rPr>
              <a:t>Variety of subreddits: gaming, sports, advice, politics, memes</a:t>
            </a:r>
            <a:endParaRPr lang="en-US" sz="1100"/>
          </a:p>
        </p:txBody>
      </p:sp>
      <p:sp>
        <p:nvSpPr>
          <p:cNvPr id="24" name="Text 22"/>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25" name="Text 23"/>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3 / 12</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PREPARATION — STEP 1 OF 2</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Data Cleaning</a:t>
            </a:r>
            <a:endParaRPr lang="en-US" sz="2800"/>
          </a:p>
        </p:txBody>
      </p:sp>
      <p:sp>
        <p:nvSpPr>
          <p:cNvPr id="5" name="Shape 3"/>
          <p:cNvSpPr/>
          <p:nvPr/>
        </p:nvSpPr>
        <p:spPr>
          <a:xfrm>
            <a:off x="457200" y="1508760"/>
            <a:ext cx="2606040" cy="1371600"/>
          </a:xfrm>
          <a:prstGeom prst="rect">
            <a:avLst/>
          </a:prstGeom>
          <a:solidFill>
            <a:srgbClr val="FFFFFF"/>
          </a:solidFill>
          <a:ln w="9525">
            <a:solidFill>
              <a:srgbClr val="E2E8F0"/>
            </a:solidFill>
            <a:prstDash val="solid"/>
          </a:ln>
        </p:spPr>
        <p:txBody>
          <a:bodyPr/>
          <a:lstStyle/>
          <a:p>
            <a:endParaRPr lang="en-US"/>
          </a:p>
        </p:txBody>
      </p:sp>
      <p:sp>
        <p:nvSpPr>
          <p:cNvPr id="6" name="Text 4"/>
          <p:cNvSpPr/>
          <p:nvPr/>
        </p:nvSpPr>
        <p:spPr>
          <a:xfrm>
            <a:off x="621792" y="1618488"/>
            <a:ext cx="7315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01</a:t>
            </a:r>
            <a:endParaRPr lang="en-US" sz="1100"/>
          </a:p>
        </p:txBody>
      </p:sp>
      <p:sp>
        <p:nvSpPr>
          <p:cNvPr id="7" name="Text 5"/>
          <p:cNvSpPr/>
          <p:nvPr/>
        </p:nvSpPr>
        <p:spPr>
          <a:xfrm>
            <a:off x="621792" y="1874520"/>
            <a:ext cx="233172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Drop nulls</a:t>
            </a:r>
            <a:endParaRPr lang="en-US" sz="1300"/>
          </a:p>
        </p:txBody>
      </p:sp>
      <p:sp>
        <p:nvSpPr>
          <p:cNvPr id="8" name="Text 6"/>
          <p:cNvSpPr/>
          <p:nvPr/>
        </p:nvSpPr>
        <p:spPr>
          <a:xfrm>
            <a:off x="621792" y="2185416"/>
            <a:ext cx="2331720" cy="658368"/>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Remove rows missing a subreddit label or comment body.</a:t>
            </a:r>
            <a:endParaRPr lang="en-US" sz="1000"/>
          </a:p>
        </p:txBody>
      </p:sp>
      <p:sp>
        <p:nvSpPr>
          <p:cNvPr id="9" name="Shape 7"/>
          <p:cNvSpPr/>
          <p:nvPr/>
        </p:nvSpPr>
        <p:spPr>
          <a:xfrm>
            <a:off x="3246120" y="1508760"/>
            <a:ext cx="2606040" cy="1371600"/>
          </a:xfrm>
          <a:prstGeom prst="rect">
            <a:avLst/>
          </a:prstGeom>
          <a:solidFill>
            <a:srgbClr val="FFFFFF"/>
          </a:solidFill>
          <a:ln w="9525">
            <a:solidFill>
              <a:srgbClr val="E2E8F0"/>
            </a:solidFill>
            <a:prstDash val="solid"/>
          </a:ln>
        </p:spPr>
        <p:txBody>
          <a:bodyPr/>
          <a:lstStyle/>
          <a:p>
            <a:endParaRPr lang="en-US"/>
          </a:p>
        </p:txBody>
      </p:sp>
      <p:sp>
        <p:nvSpPr>
          <p:cNvPr id="10" name="Text 8"/>
          <p:cNvSpPr/>
          <p:nvPr/>
        </p:nvSpPr>
        <p:spPr>
          <a:xfrm>
            <a:off x="3410712" y="1618488"/>
            <a:ext cx="7315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02</a:t>
            </a:r>
            <a:endParaRPr lang="en-US" sz="1100"/>
          </a:p>
        </p:txBody>
      </p:sp>
      <p:sp>
        <p:nvSpPr>
          <p:cNvPr id="11" name="Text 9"/>
          <p:cNvSpPr/>
          <p:nvPr/>
        </p:nvSpPr>
        <p:spPr>
          <a:xfrm>
            <a:off x="3410712" y="1874520"/>
            <a:ext cx="233172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Filter markers</a:t>
            </a:r>
            <a:endParaRPr lang="en-US" sz="1300"/>
          </a:p>
        </p:txBody>
      </p:sp>
      <p:sp>
        <p:nvSpPr>
          <p:cNvPr id="12" name="Text 10"/>
          <p:cNvSpPr/>
          <p:nvPr/>
        </p:nvSpPr>
        <p:spPr>
          <a:xfrm>
            <a:off x="3410712" y="2185416"/>
            <a:ext cx="2331720" cy="658368"/>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Drop comments marked [deleted] or [removed] by moderators.</a:t>
            </a:r>
            <a:endParaRPr lang="en-US" sz="1000"/>
          </a:p>
        </p:txBody>
      </p:sp>
      <p:sp>
        <p:nvSpPr>
          <p:cNvPr id="13" name="Shape 11"/>
          <p:cNvSpPr/>
          <p:nvPr/>
        </p:nvSpPr>
        <p:spPr>
          <a:xfrm>
            <a:off x="6035040" y="1508760"/>
            <a:ext cx="2606040" cy="1371600"/>
          </a:xfrm>
          <a:prstGeom prst="rect">
            <a:avLst/>
          </a:prstGeom>
          <a:solidFill>
            <a:srgbClr val="FFFFFF"/>
          </a:solidFill>
          <a:ln w="9525">
            <a:solidFill>
              <a:srgbClr val="E2E8F0"/>
            </a:solidFill>
            <a:prstDash val="solid"/>
          </a:ln>
        </p:spPr>
        <p:txBody>
          <a:bodyPr/>
          <a:lstStyle/>
          <a:p>
            <a:endParaRPr lang="en-US"/>
          </a:p>
        </p:txBody>
      </p:sp>
      <p:sp>
        <p:nvSpPr>
          <p:cNvPr id="14" name="Text 12"/>
          <p:cNvSpPr/>
          <p:nvPr/>
        </p:nvSpPr>
        <p:spPr>
          <a:xfrm>
            <a:off x="6199632" y="1618488"/>
            <a:ext cx="7315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03</a:t>
            </a:r>
            <a:endParaRPr lang="en-US" sz="1100"/>
          </a:p>
        </p:txBody>
      </p:sp>
      <p:sp>
        <p:nvSpPr>
          <p:cNvPr id="15" name="Text 13"/>
          <p:cNvSpPr/>
          <p:nvPr/>
        </p:nvSpPr>
        <p:spPr>
          <a:xfrm>
            <a:off x="6199632" y="1874520"/>
            <a:ext cx="233172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Normalize text</a:t>
            </a:r>
            <a:endParaRPr lang="en-US" sz="1300"/>
          </a:p>
        </p:txBody>
      </p:sp>
      <p:sp>
        <p:nvSpPr>
          <p:cNvPr id="16" name="Text 14"/>
          <p:cNvSpPr/>
          <p:nvPr/>
        </p:nvSpPr>
        <p:spPr>
          <a:xfrm>
            <a:off x="6199632" y="2185416"/>
            <a:ext cx="2331720" cy="658368"/>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Lowercase everything; strip non-alphanumeric characters.</a:t>
            </a:r>
            <a:endParaRPr lang="en-US" sz="1000"/>
          </a:p>
        </p:txBody>
      </p:sp>
      <p:sp>
        <p:nvSpPr>
          <p:cNvPr id="17" name="Shape 15"/>
          <p:cNvSpPr/>
          <p:nvPr/>
        </p:nvSpPr>
        <p:spPr>
          <a:xfrm>
            <a:off x="457200" y="3017520"/>
            <a:ext cx="2606040" cy="1371600"/>
          </a:xfrm>
          <a:prstGeom prst="rect">
            <a:avLst/>
          </a:prstGeom>
          <a:solidFill>
            <a:srgbClr val="FFFFFF"/>
          </a:solidFill>
          <a:ln w="9525">
            <a:solidFill>
              <a:srgbClr val="E2E8F0"/>
            </a:solidFill>
            <a:prstDash val="solid"/>
          </a:ln>
        </p:spPr>
        <p:txBody>
          <a:bodyPr/>
          <a:lstStyle/>
          <a:p>
            <a:endParaRPr lang="en-US"/>
          </a:p>
        </p:txBody>
      </p:sp>
      <p:sp>
        <p:nvSpPr>
          <p:cNvPr id="18" name="Text 16"/>
          <p:cNvSpPr/>
          <p:nvPr/>
        </p:nvSpPr>
        <p:spPr>
          <a:xfrm>
            <a:off x="621792" y="3127248"/>
            <a:ext cx="7315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04</a:t>
            </a:r>
            <a:endParaRPr lang="en-US" sz="1100"/>
          </a:p>
        </p:txBody>
      </p:sp>
      <p:sp>
        <p:nvSpPr>
          <p:cNvPr id="19" name="Text 17"/>
          <p:cNvSpPr/>
          <p:nvPr/>
        </p:nvSpPr>
        <p:spPr>
          <a:xfrm>
            <a:off x="621792" y="3383280"/>
            <a:ext cx="233172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Balance classes</a:t>
            </a:r>
            <a:endParaRPr lang="en-US" sz="1300"/>
          </a:p>
        </p:txBody>
      </p:sp>
      <p:sp>
        <p:nvSpPr>
          <p:cNvPr id="20" name="Text 18"/>
          <p:cNvSpPr/>
          <p:nvPr/>
        </p:nvSpPr>
        <p:spPr>
          <a:xfrm>
            <a:off x="621792" y="3694176"/>
            <a:ext cx="2331720" cy="658368"/>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Cap each subreddit at 12,500 rows via a window-function sample. Prevents dominant subs from skewing accuracy.</a:t>
            </a:r>
            <a:endParaRPr lang="en-US" sz="1000"/>
          </a:p>
        </p:txBody>
      </p:sp>
      <p:sp>
        <p:nvSpPr>
          <p:cNvPr id="21" name="Shape 19"/>
          <p:cNvSpPr/>
          <p:nvPr/>
        </p:nvSpPr>
        <p:spPr>
          <a:xfrm>
            <a:off x="3246120" y="3017520"/>
            <a:ext cx="2606040" cy="1371600"/>
          </a:xfrm>
          <a:prstGeom prst="rect">
            <a:avLst/>
          </a:prstGeom>
          <a:solidFill>
            <a:srgbClr val="FFFFFF"/>
          </a:solidFill>
          <a:ln w="9525">
            <a:solidFill>
              <a:srgbClr val="E2E8F0"/>
            </a:solidFill>
            <a:prstDash val="solid"/>
          </a:ln>
        </p:spPr>
        <p:txBody>
          <a:bodyPr/>
          <a:lstStyle/>
          <a:p>
            <a:endParaRPr lang="en-US"/>
          </a:p>
        </p:txBody>
      </p:sp>
      <p:sp>
        <p:nvSpPr>
          <p:cNvPr id="22" name="Text 20"/>
          <p:cNvSpPr/>
          <p:nvPr/>
        </p:nvSpPr>
        <p:spPr>
          <a:xfrm>
            <a:off x="3410712" y="3127248"/>
            <a:ext cx="7315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05</a:t>
            </a:r>
            <a:endParaRPr lang="en-US" sz="1100"/>
          </a:p>
        </p:txBody>
      </p:sp>
      <p:sp>
        <p:nvSpPr>
          <p:cNvPr id="23" name="Text 21"/>
          <p:cNvSpPr/>
          <p:nvPr/>
        </p:nvSpPr>
        <p:spPr>
          <a:xfrm>
            <a:off x="3410712" y="3383280"/>
            <a:ext cx="233172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Clip for NB</a:t>
            </a:r>
            <a:endParaRPr lang="en-US" sz="1300"/>
          </a:p>
        </p:txBody>
      </p:sp>
      <p:sp>
        <p:nvSpPr>
          <p:cNvPr id="24" name="Text 22"/>
          <p:cNvSpPr/>
          <p:nvPr/>
        </p:nvSpPr>
        <p:spPr>
          <a:xfrm>
            <a:off x="3410712" y="3694176"/>
            <a:ext cx="2331720" cy="658368"/>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Set negative scores to 0 — Naive Bayes requires non-negative features.</a:t>
            </a:r>
            <a:endParaRPr lang="en-US" sz="1000"/>
          </a:p>
        </p:txBody>
      </p:sp>
      <p:sp>
        <p:nvSpPr>
          <p:cNvPr id="25" name="Shape 23"/>
          <p:cNvSpPr/>
          <p:nvPr/>
        </p:nvSpPr>
        <p:spPr>
          <a:xfrm>
            <a:off x="6035040" y="3017520"/>
            <a:ext cx="2606040" cy="1371600"/>
          </a:xfrm>
          <a:prstGeom prst="rect">
            <a:avLst/>
          </a:prstGeom>
          <a:solidFill>
            <a:srgbClr val="FFFFFF"/>
          </a:solidFill>
          <a:ln w="9525">
            <a:solidFill>
              <a:srgbClr val="E2E8F0"/>
            </a:solidFill>
            <a:prstDash val="solid"/>
          </a:ln>
        </p:spPr>
        <p:txBody>
          <a:bodyPr/>
          <a:lstStyle/>
          <a:p>
            <a:endParaRPr lang="en-US"/>
          </a:p>
        </p:txBody>
      </p:sp>
      <p:sp>
        <p:nvSpPr>
          <p:cNvPr id="26" name="Text 24"/>
          <p:cNvSpPr/>
          <p:nvPr/>
        </p:nvSpPr>
        <p:spPr>
          <a:xfrm>
            <a:off x="6199632" y="3127248"/>
            <a:ext cx="7315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06</a:t>
            </a:r>
            <a:endParaRPr lang="en-US" sz="1100"/>
          </a:p>
        </p:txBody>
      </p:sp>
      <p:sp>
        <p:nvSpPr>
          <p:cNvPr id="27" name="Text 25"/>
          <p:cNvSpPr/>
          <p:nvPr/>
        </p:nvSpPr>
        <p:spPr>
          <a:xfrm>
            <a:off x="6199632" y="3383280"/>
            <a:ext cx="233172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Train / test split</a:t>
            </a:r>
            <a:endParaRPr lang="en-US" sz="1300"/>
          </a:p>
        </p:txBody>
      </p:sp>
      <p:sp>
        <p:nvSpPr>
          <p:cNvPr id="28" name="Text 26"/>
          <p:cNvSpPr/>
          <p:nvPr/>
        </p:nvSpPr>
        <p:spPr>
          <a:xfrm>
            <a:off x="6199632" y="3694176"/>
            <a:ext cx="2331720" cy="658368"/>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Random 80 / 20 split with fixed seed for reproducibility.</a:t>
            </a:r>
            <a:endParaRPr lang="en-US" sz="1000"/>
          </a:p>
        </p:txBody>
      </p:sp>
      <p:sp>
        <p:nvSpPr>
          <p:cNvPr id="29" name="Text 27"/>
          <p:cNvSpPr/>
          <p:nvPr/>
        </p:nvSpPr>
        <p:spPr>
          <a:xfrm>
            <a:off x="457200" y="4617720"/>
            <a:ext cx="8229600" cy="228600"/>
          </a:xfrm>
          <a:prstGeom prst="rect">
            <a:avLst/>
          </a:prstGeom>
          <a:noFill/>
          <a:ln/>
        </p:spPr>
        <p:txBody>
          <a:bodyPr wrap="square" lIns="0" tIns="0" rIns="0" bIns="0" rtlCol="0" anchor="ctr"/>
          <a:lstStyle/>
          <a:p>
            <a:pPr marL="0" indent="0">
              <a:buNone/>
            </a:pPr>
            <a:r>
              <a:rPr lang="en-US" sz="1100" b="1">
                <a:solidFill>
                  <a:srgbClr val="0F172A"/>
                </a:solidFill>
                <a:latin typeface="Calibri" pitchFamily="34" charset="0"/>
                <a:ea typeface="Calibri" pitchFamily="34" charset="-122"/>
                <a:cs typeface="Calibri" pitchFamily="34" charset="-120"/>
              </a:rPr>
              <a:t>Result   </a:t>
            </a:r>
            <a:r>
              <a:rPr lang="en-US" sz="1100">
                <a:solidFill>
                  <a:srgbClr val="334155"/>
                </a:solidFill>
                <a:latin typeface="Calibri" pitchFamily="34" charset="0"/>
                <a:ea typeface="Calibri" pitchFamily="34" charset="-122"/>
                <a:cs typeface="Calibri" pitchFamily="34" charset="-120"/>
              </a:rPr>
              <a:t>399,779 training rows  ·  100,221 test rows  ·  evenly distributed across 40 subreddits</a:t>
            </a:r>
            <a:endParaRPr lang="en-US" sz="1100"/>
          </a:p>
        </p:txBody>
      </p:sp>
      <p:sp>
        <p:nvSpPr>
          <p:cNvPr id="30" name="Text 28"/>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31" name="Text 29"/>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4 / 12</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PREPARATION — STEP 2 OF 2</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Feature Engineering Pipeline</a:t>
            </a:r>
            <a:endParaRPr lang="en-US" sz="2800"/>
          </a:p>
        </p:txBody>
      </p:sp>
      <p:sp>
        <p:nvSpPr>
          <p:cNvPr id="5" name="Shape 3"/>
          <p:cNvSpPr/>
          <p:nvPr/>
        </p:nvSpPr>
        <p:spPr>
          <a:xfrm>
            <a:off x="502920" y="1554480"/>
            <a:ext cx="1280160" cy="1188720"/>
          </a:xfrm>
          <a:prstGeom prst="rect">
            <a:avLst/>
          </a:prstGeom>
          <a:solidFill>
            <a:srgbClr val="F8FAFC"/>
          </a:solidFill>
          <a:ln w="9525">
            <a:solidFill>
              <a:srgbClr val="E2E8F0"/>
            </a:solidFill>
            <a:prstDash val="solid"/>
          </a:ln>
        </p:spPr>
        <p:txBody>
          <a:bodyPr/>
          <a:lstStyle/>
          <a:p>
            <a:endParaRPr lang="en-US"/>
          </a:p>
        </p:txBody>
      </p:sp>
      <p:sp>
        <p:nvSpPr>
          <p:cNvPr id="6" name="Text 4"/>
          <p:cNvSpPr/>
          <p:nvPr/>
        </p:nvSpPr>
        <p:spPr>
          <a:xfrm>
            <a:off x="502920" y="1719072"/>
            <a:ext cx="1280160" cy="292608"/>
          </a:xfrm>
          <a:prstGeom prst="rect">
            <a:avLst/>
          </a:prstGeom>
          <a:noFill/>
          <a:ln/>
        </p:spPr>
        <p:txBody>
          <a:bodyPr wrap="square" lIns="0" tIns="0" rIns="0" bIns="0" rtlCol="0" anchor="ctr"/>
          <a:lstStyle/>
          <a:p>
            <a:pPr marL="0" indent="0" algn="ctr">
              <a:buNone/>
            </a:pPr>
            <a:r>
              <a:rPr lang="en-US" sz="1100" b="1">
                <a:solidFill>
                  <a:srgbClr val="1E3A8A"/>
                </a:solidFill>
                <a:latin typeface="Calibri" pitchFamily="34" charset="0"/>
                <a:ea typeface="Calibri" pitchFamily="34" charset="-122"/>
                <a:cs typeface="Calibri" pitchFamily="34" charset="-120"/>
              </a:rPr>
              <a:t>Raw text</a:t>
            </a:r>
            <a:endParaRPr lang="en-US" sz="1100"/>
          </a:p>
        </p:txBody>
      </p:sp>
      <p:sp>
        <p:nvSpPr>
          <p:cNvPr id="7" name="Text 5"/>
          <p:cNvSpPr/>
          <p:nvPr/>
        </p:nvSpPr>
        <p:spPr>
          <a:xfrm>
            <a:off x="576072" y="2057400"/>
            <a:ext cx="1133856" cy="640080"/>
          </a:xfrm>
          <a:prstGeom prst="rect">
            <a:avLst/>
          </a:prstGeom>
          <a:noFill/>
          <a:ln/>
        </p:spPr>
        <p:txBody>
          <a:bodyPr wrap="square" lIns="0" tIns="0" rIns="0" bIns="0" rtlCol="0" anchor="t"/>
          <a:lstStyle/>
          <a:p>
            <a:pPr marL="0" indent="0" algn="ctr">
              <a:buNone/>
            </a:pPr>
            <a:r>
              <a:rPr lang="en-US" sz="900">
                <a:solidFill>
                  <a:srgbClr val="334155"/>
                </a:solidFill>
                <a:latin typeface="Calibri" pitchFamily="34" charset="0"/>
                <a:ea typeface="Calibri" pitchFamily="34" charset="-122"/>
                <a:cs typeface="Calibri" pitchFamily="34" charset="-120"/>
              </a:rPr>
              <a:t>Cleaned</a:t>
            </a:r>
            <a:endParaRPr lang="en-US" sz="900"/>
          </a:p>
          <a:p>
            <a:pPr marL="0" indent="0" algn="ctr">
              <a:buNone/>
            </a:pPr>
            <a:r>
              <a:rPr lang="en-US" sz="900">
                <a:solidFill>
                  <a:srgbClr val="334155"/>
                </a:solidFill>
                <a:latin typeface="Calibri" pitchFamily="34" charset="0"/>
                <a:ea typeface="Calibri" pitchFamily="34" charset="-122"/>
                <a:cs typeface="Calibri" pitchFamily="34" charset="-120"/>
              </a:rPr>
              <a:t>comment body</a:t>
            </a:r>
            <a:endParaRPr lang="en-US" sz="900"/>
          </a:p>
        </p:txBody>
      </p:sp>
      <p:sp>
        <p:nvSpPr>
          <p:cNvPr id="8" name="Text 6"/>
          <p:cNvSpPr/>
          <p:nvPr/>
        </p:nvSpPr>
        <p:spPr>
          <a:xfrm>
            <a:off x="1709928" y="1828800"/>
            <a:ext cx="237744" cy="640080"/>
          </a:xfrm>
          <a:prstGeom prst="rect">
            <a:avLst/>
          </a:prstGeom>
          <a:noFill/>
          <a:ln/>
        </p:spPr>
        <p:txBody>
          <a:bodyPr wrap="square" lIns="0" tIns="0" rIns="0" bIns="0" rtlCol="0" anchor="ctr"/>
          <a:lstStyle/>
          <a:p>
            <a:pPr marL="0" indent="0" algn="ctr">
              <a:buNone/>
            </a:pPr>
            <a:r>
              <a:rPr lang="en-US" sz="2800" b="1">
                <a:solidFill>
                  <a:srgbClr val="1E3A8A"/>
                </a:solidFill>
                <a:latin typeface="Calibri" pitchFamily="34" charset="0"/>
                <a:ea typeface="Calibri" pitchFamily="34" charset="-122"/>
                <a:cs typeface="Calibri" pitchFamily="34" charset="-120"/>
              </a:rPr>
              <a:t>›</a:t>
            </a:r>
            <a:endParaRPr lang="en-US" sz="2800"/>
          </a:p>
        </p:txBody>
      </p:sp>
      <p:sp>
        <p:nvSpPr>
          <p:cNvPr id="9" name="Shape 7"/>
          <p:cNvSpPr/>
          <p:nvPr/>
        </p:nvSpPr>
        <p:spPr>
          <a:xfrm>
            <a:off x="1874520" y="1554480"/>
            <a:ext cx="1280160" cy="1188720"/>
          </a:xfrm>
          <a:prstGeom prst="rect">
            <a:avLst/>
          </a:prstGeom>
          <a:solidFill>
            <a:srgbClr val="F8FAFC"/>
          </a:solidFill>
          <a:ln w="9525">
            <a:solidFill>
              <a:srgbClr val="E2E8F0"/>
            </a:solidFill>
            <a:prstDash val="solid"/>
          </a:ln>
        </p:spPr>
        <p:txBody>
          <a:bodyPr/>
          <a:lstStyle/>
          <a:p>
            <a:endParaRPr lang="en-US"/>
          </a:p>
        </p:txBody>
      </p:sp>
      <p:sp>
        <p:nvSpPr>
          <p:cNvPr id="10" name="Text 8"/>
          <p:cNvSpPr/>
          <p:nvPr/>
        </p:nvSpPr>
        <p:spPr>
          <a:xfrm>
            <a:off x="1874520" y="1719072"/>
            <a:ext cx="1280160" cy="292608"/>
          </a:xfrm>
          <a:prstGeom prst="rect">
            <a:avLst/>
          </a:prstGeom>
          <a:noFill/>
          <a:ln/>
        </p:spPr>
        <p:txBody>
          <a:bodyPr wrap="square" lIns="0" tIns="0" rIns="0" bIns="0" rtlCol="0" anchor="ctr"/>
          <a:lstStyle/>
          <a:p>
            <a:pPr marL="0" indent="0" algn="ctr">
              <a:buNone/>
            </a:pPr>
            <a:r>
              <a:rPr lang="en-US" sz="1100" b="1">
                <a:solidFill>
                  <a:srgbClr val="1E3A8A"/>
                </a:solidFill>
                <a:latin typeface="Calibri" pitchFamily="34" charset="0"/>
                <a:ea typeface="Calibri" pitchFamily="34" charset="-122"/>
                <a:cs typeface="Calibri" pitchFamily="34" charset="-120"/>
              </a:rPr>
              <a:t>Tokenize</a:t>
            </a:r>
            <a:endParaRPr lang="en-US" sz="1100"/>
          </a:p>
        </p:txBody>
      </p:sp>
      <p:sp>
        <p:nvSpPr>
          <p:cNvPr id="11" name="Text 9"/>
          <p:cNvSpPr/>
          <p:nvPr/>
        </p:nvSpPr>
        <p:spPr>
          <a:xfrm>
            <a:off x="1947672" y="2057400"/>
            <a:ext cx="1133856" cy="640080"/>
          </a:xfrm>
          <a:prstGeom prst="rect">
            <a:avLst/>
          </a:prstGeom>
          <a:noFill/>
          <a:ln/>
        </p:spPr>
        <p:txBody>
          <a:bodyPr wrap="square" lIns="0" tIns="0" rIns="0" bIns="0" rtlCol="0" anchor="t"/>
          <a:lstStyle/>
          <a:p>
            <a:pPr marL="0" indent="0" algn="ctr">
              <a:buNone/>
            </a:pPr>
            <a:r>
              <a:rPr lang="en-US" sz="900">
                <a:solidFill>
                  <a:srgbClr val="334155"/>
                </a:solidFill>
                <a:latin typeface="Calibri" pitchFamily="34" charset="0"/>
                <a:ea typeface="Calibri" pitchFamily="34" charset="-122"/>
                <a:cs typeface="Calibri" pitchFamily="34" charset="-120"/>
              </a:rPr>
              <a:t>Split into</a:t>
            </a:r>
            <a:endParaRPr lang="en-US" sz="900"/>
          </a:p>
          <a:p>
            <a:pPr marL="0" indent="0" algn="ctr">
              <a:buNone/>
            </a:pPr>
            <a:r>
              <a:rPr lang="en-US" sz="900">
                <a:solidFill>
                  <a:srgbClr val="334155"/>
                </a:solidFill>
                <a:latin typeface="Calibri" pitchFamily="34" charset="0"/>
                <a:ea typeface="Calibri" pitchFamily="34" charset="-122"/>
                <a:cs typeface="Calibri" pitchFamily="34" charset="-120"/>
              </a:rPr>
              <a:t>words ≥3 chars</a:t>
            </a:r>
            <a:endParaRPr lang="en-US" sz="900"/>
          </a:p>
        </p:txBody>
      </p:sp>
      <p:sp>
        <p:nvSpPr>
          <p:cNvPr id="12" name="Text 10"/>
          <p:cNvSpPr/>
          <p:nvPr/>
        </p:nvSpPr>
        <p:spPr>
          <a:xfrm>
            <a:off x="3081528" y="1828800"/>
            <a:ext cx="237744" cy="640080"/>
          </a:xfrm>
          <a:prstGeom prst="rect">
            <a:avLst/>
          </a:prstGeom>
          <a:noFill/>
          <a:ln/>
        </p:spPr>
        <p:txBody>
          <a:bodyPr wrap="square" lIns="0" tIns="0" rIns="0" bIns="0" rtlCol="0" anchor="ctr"/>
          <a:lstStyle/>
          <a:p>
            <a:pPr marL="0" indent="0" algn="ctr">
              <a:buNone/>
            </a:pPr>
            <a:r>
              <a:rPr lang="en-US" sz="2800" b="1">
                <a:solidFill>
                  <a:srgbClr val="1E3A8A"/>
                </a:solidFill>
                <a:latin typeface="Calibri" pitchFamily="34" charset="0"/>
                <a:ea typeface="Calibri" pitchFamily="34" charset="-122"/>
                <a:cs typeface="Calibri" pitchFamily="34" charset="-120"/>
              </a:rPr>
              <a:t>›</a:t>
            </a:r>
            <a:endParaRPr lang="en-US" sz="2800"/>
          </a:p>
        </p:txBody>
      </p:sp>
      <p:sp>
        <p:nvSpPr>
          <p:cNvPr id="13" name="Shape 11"/>
          <p:cNvSpPr/>
          <p:nvPr/>
        </p:nvSpPr>
        <p:spPr>
          <a:xfrm>
            <a:off x="3246120" y="1554480"/>
            <a:ext cx="1280160" cy="1188720"/>
          </a:xfrm>
          <a:prstGeom prst="rect">
            <a:avLst/>
          </a:prstGeom>
          <a:solidFill>
            <a:srgbClr val="F8FAFC"/>
          </a:solidFill>
          <a:ln w="9525">
            <a:solidFill>
              <a:srgbClr val="E2E8F0"/>
            </a:solidFill>
            <a:prstDash val="solid"/>
          </a:ln>
        </p:spPr>
        <p:txBody>
          <a:bodyPr/>
          <a:lstStyle/>
          <a:p>
            <a:endParaRPr lang="en-US"/>
          </a:p>
        </p:txBody>
      </p:sp>
      <p:sp>
        <p:nvSpPr>
          <p:cNvPr id="14" name="Text 12"/>
          <p:cNvSpPr/>
          <p:nvPr/>
        </p:nvSpPr>
        <p:spPr>
          <a:xfrm>
            <a:off x="3246120" y="1719072"/>
            <a:ext cx="1280160" cy="292608"/>
          </a:xfrm>
          <a:prstGeom prst="rect">
            <a:avLst/>
          </a:prstGeom>
          <a:noFill/>
          <a:ln/>
        </p:spPr>
        <p:txBody>
          <a:bodyPr wrap="square" lIns="0" tIns="0" rIns="0" bIns="0" rtlCol="0" anchor="ctr"/>
          <a:lstStyle/>
          <a:p>
            <a:pPr marL="0" indent="0" algn="ctr">
              <a:buNone/>
            </a:pPr>
            <a:r>
              <a:rPr lang="en-US" sz="1100" b="1">
                <a:solidFill>
                  <a:srgbClr val="1E3A8A"/>
                </a:solidFill>
                <a:latin typeface="Calibri" pitchFamily="34" charset="0"/>
                <a:ea typeface="Calibri" pitchFamily="34" charset="-122"/>
                <a:cs typeface="Calibri" pitchFamily="34" charset="-120"/>
              </a:rPr>
              <a:t>Stop words</a:t>
            </a:r>
            <a:endParaRPr lang="en-US" sz="1100"/>
          </a:p>
        </p:txBody>
      </p:sp>
      <p:sp>
        <p:nvSpPr>
          <p:cNvPr id="15" name="Text 13"/>
          <p:cNvSpPr/>
          <p:nvPr/>
        </p:nvSpPr>
        <p:spPr>
          <a:xfrm>
            <a:off x="3319272" y="2057400"/>
            <a:ext cx="1133856" cy="640080"/>
          </a:xfrm>
          <a:prstGeom prst="rect">
            <a:avLst/>
          </a:prstGeom>
          <a:noFill/>
          <a:ln/>
        </p:spPr>
        <p:txBody>
          <a:bodyPr wrap="square" lIns="0" tIns="0" rIns="0" bIns="0" rtlCol="0" anchor="t"/>
          <a:lstStyle/>
          <a:p>
            <a:pPr marL="0" indent="0" algn="ctr">
              <a:buNone/>
            </a:pPr>
            <a:r>
              <a:rPr lang="en-US" sz="900">
                <a:solidFill>
                  <a:srgbClr val="334155"/>
                </a:solidFill>
                <a:latin typeface="Calibri" pitchFamily="34" charset="0"/>
                <a:ea typeface="Calibri" pitchFamily="34" charset="-122"/>
                <a:cs typeface="Calibri" pitchFamily="34" charset="-120"/>
              </a:rPr>
              <a:t>Remove the,</a:t>
            </a:r>
            <a:endParaRPr lang="en-US" sz="900"/>
          </a:p>
          <a:p>
            <a:pPr marL="0" indent="0" algn="ctr">
              <a:buNone/>
            </a:pPr>
            <a:r>
              <a:rPr lang="en-US" sz="900">
                <a:solidFill>
                  <a:srgbClr val="334155"/>
                </a:solidFill>
                <a:latin typeface="Calibri" pitchFamily="34" charset="0"/>
                <a:ea typeface="Calibri" pitchFamily="34" charset="-122"/>
                <a:cs typeface="Calibri" pitchFamily="34" charset="-120"/>
              </a:rPr>
              <a:t>and, is, ...</a:t>
            </a:r>
            <a:endParaRPr lang="en-US" sz="900"/>
          </a:p>
        </p:txBody>
      </p:sp>
      <p:sp>
        <p:nvSpPr>
          <p:cNvPr id="16" name="Text 14"/>
          <p:cNvSpPr/>
          <p:nvPr/>
        </p:nvSpPr>
        <p:spPr>
          <a:xfrm>
            <a:off x="4453128" y="1828800"/>
            <a:ext cx="237744" cy="640080"/>
          </a:xfrm>
          <a:prstGeom prst="rect">
            <a:avLst/>
          </a:prstGeom>
          <a:noFill/>
          <a:ln/>
        </p:spPr>
        <p:txBody>
          <a:bodyPr wrap="square" lIns="0" tIns="0" rIns="0" bIns="0" rtlCol="0" anchor="ctr"/>
          <a:lstStyle/>
          <a:p>
            <a:pPr marL="0" indent="0" algn="ctr">
              <a:buNone/>
            </a:pPr>
            <a:r>
              <a:rPr lang="en-US" sz="2800" b="1">
                <a:solidFill>
                  <a:srgbClr val="1E3A8A"/>
                </a:solidFill>
                <a:latin typeface="Calibri" pitchFamily="34" charset="0"/>
                <a:ea typeface="Calibri" pitchFamily="34" charset="-122"/>
                <a:cs typeface="Calibri" pitchFamily="34" charset="-120"/>
              </a:rPr>
              <a:t>›</a:t>
            </a:r>
            <a:endParaRPr lang="en-US" sz="2800"/>
          </a:p>
        </p:txBody>
      </p:sp>
      <p:sp>
        <p:nvSpPr>
          <p:cNvPr id="17" name="Shape 15"/>
          <p:cNvSpPr/>
          <p:nvPr/>
        </p:nvSpPr>
        <p:spPr>
          <a:xfrm>
            <a:off x="4617720" y="1554480"/>
            <a:ext cx="1280160" cy="1188720"/>
          </a:xfrm>
          <a:prstGeom prst="rect">
            <a:avLst/>
          </a:prstGeom>
          <a:solidFill>
            <a:srgbClr val="F8FAFC"/>
          </a:solidFill>
          <a:ln w="9525">
            <a:solidFill>
              <a:srgbClr val="E2E8F0"/>
            </a:solidFill>
            <a:prstDash val="solid"/>
          </a:ln>
        </p:spPr>
        <p:txBody>
          <a:bodyPr/>
          <a:lstStyle/>
          <a:p>
            <a:endParaRPr lang="en-US"/>
          </a:p>
        </p:txBody>
      </p:sp>
      <p:sp>
        <p:nvSpPr>
          <p:cNvPr id="18" name="Text 16"/>
          <p:cNvSpPr/>
          <p:nvPr/>
        </p:nvSpPr>
        <p:spPr>
          <a:xfrm>
            <a:off x="4617720" y="1719072"/>
            <a:ext cx="1280160" cy="292608"/>
          </a:xfrm>
          <a:prstGeom prst="rect">
            <a:avLst/>
          </a:prstGeom>
          <a:noFill/>
          <a:ln/>
        </p:spPr>
        <p:txBody>
          <a:bodyPr wrap="square" lIns="0" tIns="0" rIns="0" bIns="0" rtlCol="0" anchor="ctr"/>
          <a:lstStyle/>
          <a:p>
            <a:pPr marL="0" indent="0" algn="ctr">
              <a:buNone/>
            </a:pPr>
            <a:r>
              <a:rPr lang="en-US" sz="1100" b="1">
                <a:solidFill>
                  <a:srgbClr val="1E3A8A"/>
                </a:solidFill>
                <a:latin typeface="Calibri" pitchFamily="34" charset="0"/>
                <a:ea typeface="Calibri" pitchFamily="34" charset="-122"/>
                <a:cs typeface="Calibri" pitchFamily="34" charset="-120"/>
              </a:rPr>
              <a:t>CountVectorizer</a:t>
            </a:r>
            <a:endParaRPr lang="en-US" sz="1100"/>
          </a:p>
        </p:txBody>
      </p:sp>
      <p:sp>
        <p:nvSpPr>
          <p:cNvPr id="19" name="Text 17"/>
          <p:cNvSpPr/>
          <p:nvPr/>
        </p:nvSpPr>
        <p:spPr>
          <a:xfrm>
            <a:off x="4690872" y="2057400"/>
            <a:ext cx="1133856" cy="640080"/>
          </a:xfrm>
          <a:prstGeom prst="rect">
            <a:avLst/>
          </a:prstGeom>
          <a:noFill/>
          <a:ln/>
        </p:spPr>
        <p:txBody>
          <a:bodyPr wrap="square" lIns="0" tIns="0" rIns="0" bIns="0" rtlCol="0" anchor="t"/>
          <a:lstStyle/>
          <a:p>
            <a:pPr marL="0" indent="0" algn="ctr">
              <a:buNone/>
            </a:pPr>
            <a:r>
              <a:rPr lang="en-US" sz="900">
                <a:solidFill>
                  <a:srgbClr val="334155"/>
                </a:solidFill>
                <a:latin typeface="Calibri" pitchFamily="34" charset="0"/>
                <a:ea typeface="Calibri" pitchFamily="34" charset="-122"/>
                <a:cs typeface="Calibri" pitchFamily="34" charset="-120"/>
              </a:rPr>
              <a:t>Top 15,000 words,</a:t>
            </a:r>
            <a:endParaRPr lang="en-US" sz="900"/>
          </a:p>
          <a:p>
            <a:pPr marL="0" indent="0" algn="ctr">
              <a:buNone/>
            </a:pPr>
            <a:r>
              <a:rPr lang="en-US" sz="900">
                <a:solidFill>
                  <a:srgbClr val="334155"/>
                </a:solidFill>
                <a:latin typeface="Calibri" pitchFamily="34" charset="0"/>
                <a:ea typeface="Calibri" pitchFamily="34" charset="-122"/>
                <a:cs typeface="Calibri" pitchFamily="34" charset="-120"/>
              </a:rPr>
              <a:t>min doc freq = 5</a:t>
            </a:r>
            <a:endParaRPr lang="en-US" sz="900"/>
          </a:p>
        </p:txBody>
      </p:sp>
      <p:sp>
        <p:nvSpPr>
          <p:cNvPr id="20" name="Text 18"/>
          <p:cNvSpPr/>
          <p:nvPr/>
        </p:nvSpPr>
        <p:spPr>
          <a:xfrm>
            <a:off x="5824728" y="1828800"/>
            <a:ext cx="237744" cy="640080"/>
          </a:xfrm>
          <a:prstGeom prst="rect">
            <a:avLst/>
          </a:prstGeom>
          <a:noFill/>
          <a:ln/>
        </p:spPr>
        <p:txBody>
          <a:bodyPr wrap="square" lIns="0" tIns="0" rIns="0" bIns="0" rtlCol="0" anchor="ctr"/>
          <a:lstStyle/>
          <a:p>
            <a:pPr marL="0" indent="0" algn="ctr">
              <a:buNone/>
            </a:pPr>
            <a:r>
              <a:rPr lang="en-US" sz="2800" b="1">
                <a:solidFill>
                  <a:srgbClr val="1E3A8A"/>
                </a:solidFill>
                <a:latin typeface="Calibri" pitchFamily="34" charset="0"/>
                <a:ea typeface="Calibri" pitchFamily="34" charset="-122"/>
                <a:cs typeface="Calibri" pitchFamily="34" charset="-120"/>
              </a:rPr>
              <a:t>›</a:t>
            </a:r>
            <a:endParaRPr lang="en-US" sz="2800"/>
          </a:p>
        </p:txBody>
      </p:sp>
      <p:sp>
        <p:nvSpPr>
          <p:cNvPr id="21" name="Shape 19"/>
          <p:cNvSpPr/>
          <p:nvPr/>
        </p:nvSpPr>
        <p:spPr>
          <a:xfrm>
            <a:off x="5989320" y="1554480"/>
            <a:ext cx="1280160" cy="1188720"/>
          </a:xfrm>
          <a:prstGeom prst="rect">
            <a:avLst/>
          </a:prstGeom>
          <a:solidFill>
            <a:srgbClr val="F8FAFC"/>
          </a:solidFill>
          <a:ln w="9525">
            <a:solidFill>
              <a:srgbClr val="E2E8F0"/>
            </a:solidFill>
            <a:prstDash val="solid"/>
          </a:ln>
        </p:spPr>
        <p:txBody>
          <a:bodyPr/>
          <a:lstStyle/>
          <a:p>
            <a:endParaRPr lang="en-US"/>
          </a:p>
        </p:txBody>
      </p:sp>
      <p:sp>
        <p:nvSpPr>
          <p:cNvPr id="22" name="Text 20"/>
          <p:cNvSpPr/>
          <p:nvPr/>
        </p:nvSpPr>
        <p:spPr>
          <a:xfrm>
            <a:off x="5989320" y="1719072"/>
            <a:ext cx="1280160" cy="292608"/>
          </a:xfrm>
          <a:prstGeom prst="rect">
            <a:avLst/>
          </a:prstGeom>
          <a:noFill/>
          <a:ln/>
        </p:spPr>
        <p:txBody>
          <a:bodyPr wrap="square" lIns="0" tIns="0" rIns="0" bIns="0" rtlCol="0" anchor="ctr"/>
          <a:lstStyle/>
          <a:p>
            <a:pPr marL="0" indent="0" algn="ctr">
              <a:buNone/>
            </a:pPr>
            <a:r>
              <a:rPr lang="en-US" sz="1100" b="1">
                <a:solidFill>
                  <a:srgbClr val="1E3A8A"/>
                </a:solidFill>
                <a:latin typeface="Calibri" pitchFamily="34" charset="0"/>
                <a:ea typeface="Calibri" pitchFamily="34" charset="-122"/>
                <a:cs typeface="Calibri" pitchFamily="34" charset="-120"/>
              </a:rPr>
              <a:t>IDF weighting</a:t>
            </a:r>
            <a:endParaRPr lang="en-US" sz="1100"/>
          </a:p>
        </p:txBody>
      </p:sp>
      <p:sp>
        <p:nvSpPr>
          <p:cNvPr id="23" name="Text 21"/>
          <p:cNvSpPr/>
          <p:nvPr/>
        </p:nvSpPr>
        <p:spPr>
          <a:xfrm>
            <a:off x="6062472" y="2057400"/>
            <a:ext cx="1133856" cy="640080"/>
          </a:xfrm>
          <a:prstGeom prst="rect">
            <a:avLst/>
          </a:prstGeom>
          <a:noFill/>
          <a:ln/>
        </p:spPr>
        <p:txBody>
          <a:bodyPr wrap="square" lIns="0" tIns="0" rIns="0" bIns="0" rtlCol="0" anchor="t"/>
          <a:lstStyle/>
          <a:p>
            <a:pPr marL="0" indent="0" algn="ctr">
              <a:buNone/>
            </a:pPr>
            <a:r>
              <a:rPr lang="en-US" sz="900">
                <a:solidFill>
                  <a:srgbClr val="334155"/>
                </a:solidFill>
                <a:latin typeface="Calibri" pitchFamily="34" charset="0"/>
                <a:ea typeface="Calibri" pitchFamily="34" charset="-122"/>
                <a:cs typeface="Calibri" pitchFamily="34" charset="-120"/>
              </a:rPr>
              <a:t>Down-weight</a:t>
            </a:r>
            <a:endParaRPr lang="en-US" sz="900"/>
          </a:p>
          <a:p>
            <a:pPr marL="0" indent="0" algn="ctr">
              <a:buNone/>
            </a:pPr>
            <a:r>
              <a:rPr lang="en-US" sz="900">
                <a:solidFill>
                  <a:srgbClr val="334155"/>
                </a:solidFill>
                <a:latin typeface="Calibri" pitchFamily="34" charset="0"/>
                <a:ea typeface="Calibri" pitchFamily="34" charset="-122"/>
                <a:cs typeface="Calibri" pitchFamily="34" charset="-120"/>
              </a:rPr>
              <a:t>common words</a:t>
            </a:r>
            <a:endParaRPr lang="en-US" sz="900"/>
          </a:p>
        </p:txBody>
      </p:sp>
      <p:sp>
        <p:nvSpPr>
          <p:cNvPr id="24" name="Text 22"/>
          <p:cNvSpPr/>
          <p:nvPr/>
        </p:nvSpPr>
        <p:spPr>
          <a:xfrm>
            <a:off x="7196328" y="1828800"/>
            <a:ext cx="237744" cy="640080"/>
          </a:xfrm>
          <a:prstGeom prst="rect">
            <a:avLst/>
          </a:prstGeom>
          <a:noFill/>
          <a:ln/>
        </p:spPr>
        <p:txBody>
          <a:bodyPr wrap="square" lIns="0" tIns="0" rIns="0" bIns="0" rtlCol="0" anchor="ctr"/>
          <a:lstStyle/>
          <a:p>
            <a:pPr marL="0" indent="0" algn="ctr">
              <a:buNone/>
            </a:pPr>
            <a:r>
              <a:rPr lang="en-US" sz="2800" b="1">
                <a:solidFill>
                  <a:srgbClr val="1E3A8A"/>
                </a:solidFill>
                <a:latin typeface="Calibri" pitchFamily="34" charset="0"/>
                <a:ea typeface="Calibri" pitchFamily="34" charset="-122"/>
                <a:cs typeface="Calibri" pitchFamily="34" charset="-120"/>
              </a:rPr>
              <a:t>›</a:t>
            </a:r>
            <a:endParaRPr lang="en-US" sz="2800"/>
          </a:p>
        </p:txBody>
      </p:sp>
      <p:sp>
        <p:nvSpPr>
          <p:cNvPr id="25" name="Shape 23"/>
          <p:cNvSpPr/>
          <p:nvPr/>
        </p:nvSpPr>
        <p:spPr>
          <a:xfrm>
            <a:off x="7360920" y="1554480"/>
            <a:ext cx="1280160" cy="1188720"/>
          </a:xfrm>
          <a:prstGeom prst="rect">
            <a:avLst/>
          </a:prstGeom>
          <a:solidFill>
            <a:srgbClr val="DBE3F4"/>
          </a:solidFill>
          <a:ln w="9525">
            <a:solidFill>
              <a:srgbClr val="E2E8F0"/>
            </a:solidFill>
            <a:prstDash val="solid"/>
          </a:ln>
        </p:spPr>
        <p:txBody>
          <a:bodyPr/>
          <a:lstStyle/>
          <a:p>
            <a:endParaRPr lang="en-US"/>
          </a:p>
        </p:txBody>
      </p:sp>
      <p:sp>
        <p:nvSpPr>
          <p:cNvPr id="26" name="Text 24"/>
          <p:cNvSpPr/>
          <p:nvPr/>
        </p:nvSpPr>
        <p:spPr>
          <a:xfrm>
            <a:off x="7360920" y="1719072"/>
            <a:ext cx="1280160" cy="292608"/>
          </a:xfrm>
          <a:prstGeom prst="rect">
            <a:avLst/>
          </a:prstGeom>
          <a:noFill/>
          <a:ln/>
        </p:spPr>
        <p:txBody>
          <a:bodyPr wrap="square" lIns="0" tIns="0" rIns="0" bIns="0" rtlCol="0" anchor="ctr"/>
          <a:lstStyle/>
          <a:p>
            <a:pPr marL="0" indent="0" algn="ctr">
              <a:buNone/>
            </a:pPr>
            <a:r>
              <a:rPr lang="en-US" sz="1100" b="1">
                <a:solidFill>
                  <a:srgbClr val="1E3A8A"/>
                </a:solidFill>
                <a:latin typeface="Calibri" pitchFamily="34" charset="0"/>
                <a:ea typeface="Calibri" pitchFamily="34" charset="-122"/>
                <a:cs typeface="Calibri" pitchFamily="34" charset="-120"/>
              </a:rPr>
              <a:t>Assemble</a:t>
            </a:r>
            <a:endParaRPr lang="en-US" sz="1100"/>
          </a:p>
        </p:txBody>
      </p:sp>
      <p:sp>
        <p:nvSpPr>
          <p:cNvPr id="27" name="Text 25"/>
          <p:cNvSpPr/>
          <p:nvPr/>
        </p:nvSpPr>
        <p:spPr>
          <a:xfrm>
            <a:off x="7434072" y="2057400"/>
            <a:ext cx="1133856" cy="640080"/>
          </a:xfrm>
          <a:prstGeom prst="rect">
            <a:avLst/>
          </a:prstGeom>
          <a:noFill/>
          <a:ln/>
        </p:spPr>
        <p:txBody>
          <a:bodyPr wrap="square" lIns="0" tIns="0" rIns="0" bIns="0" rtlCol="0" anchor="t"/>
          <a:lstStyle/>
          <a:p>
            <a:pPr marL="0" indent="0" algn="ctr">
              <a:buNone/>
            </a:pPr>
            <a:r>
              <a:rPr lang="en-US" sz="900">
                <a:solidFill>
                  <a:srgbClr val="334155"/>
                </a:solidFill>
                <a:latin typeface="Calibri" pitchFamily="34" charset="0"/>
                <a:ea typeface="Calibri" pitchFamily="34" charset="-122"/>
                <a:cs typeface="Calibri" pitchFamily="34" charset="-120"/>
              </a:rPr>
              <a:t>+ score, controv.</a:t>
            </a:r>
            <a:endParaRPr lang="en-US" sz="900"/>
          </a:p>
          <a:p>
            <a:pPr marL="0" indent="0" algn="ctr">
              <a:buNone/>
            </a:pPr>
            <a:r>
              <a:rPr lang="en-US" sz="900">
                <a:solidFill>
                  <a:srgbClr val="334155"/>
                </a:solidFill>
                <a:latin typeface="Calibri" pitchFamily="34" charset="0"/>
                <a:ea typeface="Calibri" pitchFamily="34" charset="-122"/>
                <a:cs typeface="Calibri" pitchFamily="34" charset="-120"/>
              </a:rPr>
              <a:t>→ 15,002 features</a:t>
            </a:r>
            <a:endParaRPr lang="en-US" sz="900"/>
          </a:p>
        </p:txBody>
      </p:sp>
      <p:sp>
        <p:nvSpPr>
          <p:cNvPr id="28" name="Text 26"/>
          <p:cNvSpPr/>
          <p:nvPr/>
        </p:nvSpPr>
        <p:spPr>
          <a:xfrm>
            <a:off x="457200" y="3017520"/>
            <a:ext cx="82296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DESIGN DECISIONS</a:t>
            </a:r>
            <a:endParaRPr lang="en-US" sz="1000"/>
          </a:p>
        </p:txBody>
      </p:sp>
      <p:sp>
        <p:nvSpPr>
          <p:cNvPr id="29" name="Text 27"/>
          <p:cNvSpPr/>
          <p:nvPr/>
        </p:nvSpPr>
        <p:spPr>
          <a:xfrm>
            <a:off x="457200" y="3337560"/>
            <a:ext cx="4023360" cy="59436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CountVectorizer over HashingTF  </a:t>
            </a:r>
            <a:r>
              <a:rPr lang="en-US" sz="1050">
                <a:solidFill>
                  <a:srgbClr val="334155"/>
                </a:solidFill>
                <a:latin typeface="Calibri" pitchFamily="34" charset="0"/>
                <a:ea typeface="Calibri" pitchFamily="34" charset="-122"/>
                <a:cs typeface="Calibri" pitchFamily="34" charset="-120"/>
              </a:rPr>
              <a:t>Builds an exact vocabulary — no hash collisions on 400k rows.</a:t>
            </a:r>
            <a:endParaRPr lang="en-US" sz="1050"/>
          </a:p>
        </p:txBody>
      </p:sp>
      <p:sp>
        <p:nvSpPr>
          <p:cNvPr id="30" name="Text 28"/>
          <p:cNvSpPr/>
          <p:nvPr/>
        </p:nvSpPr>
        <p:spPr>
          <a:xfrm>
            <a:off x="4617720" y="3337560"/>
            <a:ext cx="4023360" cy="59436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TF-IDF weighting  </a:t>
            </a:r>
            <a:r>
              <a:rPr lang="en-US" sz="1050">
                <a:solidFill>
                  <a:srgbClr val="334155"/>
                </a:solidFill>
                <a:latin typeface="Calibri" pitchFamily="34" charset="0"/>
                <a:ea typeface="Calibri" pitchFamily="34" charset="-122"/>
                <a:cs typeface="Calibri" pitchFamily="34" charset="-120"/>
              </a:rPr>
              <a:t>Rare, distinctive words (e.g., "Targaryen") get more weight than common ones.</a:t>
            </a:r>
            <a:endParaRPr lang="en-US" sz="1050"/>
          </a:p>
        </p:txBody>
      </p:sp>
      <p:sp>
        <p:nvSpPr>
          <p:cNvPr id="31" name="Text 29"/>
          <p:cNvSpPr/>
          <p:nvPr/>
        </p:nvSpPr>
        <p:spPr>
          <a:xfrm>
            <a:off x="457200" y="4023360"/>
            <a:ext cx="4023360" cy="59436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Two assembled vectors  </a:t>
            </a:r>
            <a:r>
              <a:rPr lang="en-US" sz="1050">
                <a:solidFill>
                  <a:srgbClr val="334155"/>
                </a:solidFill>
                <a:latin typeface="Calibri" pitchFamily="34" charset="0"/>
                <a:ea typeface="Calibri" pitchFamily="34" charset="-122"/>
                <a:cs typeface="Calibri" pitchFamily="34" charset="-120"/>
              </a:rPr>
              <a:t>TF-IDF features for LR/DT/MLP; raw TF for Naive Bayes (needs non-negative).</a:t>
            </a:r>
            <a:endParaRPr lang="en-US" sz="1050"/>
          </a:p>
        </p:txBody>
      </p:sp>
      <p:sp>
        <p:nvSpPr>
          <p:cNvPr id="32" name="Text 30"/>
          <p:cNvSpPr/>
          <p:nvPr/>
        </p:nvSpPr>
        <p:spPr>
          <a:xfrm>
            <a:off x="4617720" y="4023360"/>
            <a:ext cx="4023360" cy="59436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Persist to memory  </a:t>
            </a:r>
            <a:r>
              <a:rPr lang="en-US" sz="1050">
                <a:solidFill>
                  <a:srgbClr val="334155"/>
                </a:solidFill>
                <a:latin typeface="Calibri" pitchFamily="34" charset="0"/>
                <a:ea typeface="Calibri" pitchFamily="34" charset="-122"/>
                <a:cs typeface="Calibri" pitchFamily="34" charset="-120"/>
              </a:rPr>
              <a:t>Cached the full feature matrix so all four models reuse the same vectors.</a:t>
            </a:r>
            <a:endParaRPr lang="en-US" sz="1050"/>
          </a:p>
        </p:txBody>
      </p:sp>
      <p:sp>
        <p:nvSpPr>
          <p:cNvPr id="33" name="Text 31"/>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34" name="Text 32"/>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5 / 12</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APPROACH</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The Four Models</a:t>
            </a:r>
            <a:endParaRPr lang="en-US" sz="2800"/>
          </a:p>
        </p:txBody>
      </p:sp>
      <p:sp>
        <p:nvSpPr>
          <p:cNvPr id="5" name="Shape 3"/>
          <p:cNvSpPr/>
          <p:nvPr/>
        </p:nvSpPr>
        <p:spPr>
          <a:xfrm>
            <a:off x="457200" y="1417320"/>
            <a:ext cx="4023360" cy="1508760"/>
          </a:xfrm>
          <a:prstGeom prst="rect">
            <a:avLst/>
          </a:prstGeom>
          <a:solidFill>
            <a:srgbClr val="FFFFFF"/>
          </a:solidFill>
          <a:ln w="9525">
            <a:solidFill>
              <a:srgbClr val="E2E8F0"/>
            </a:solidFill>
            <a:prstDash val="solid"/>
          </a:ln>
        </p:spPr>
        <p:txBody>
          <a:bodyPr/>
          <a:lstStyle/>
          <a:p>
            <a:endParaRPr lang="en-US"/>
          </a:p>
        </p:txBody>
      </p:sp>
      <p:sp>
        <p:nvSpPr>
          <p:cNvPr id="6" name="Shape 4"/>
          <p:cNvSpPr/>
          <p:nvPr/>
        </p:nvSpPr>
        <p:spPr>
          <a:xfrm>
            <a:off x="457200" y="1417320"/>
            <a:ext cx="64008" cy="1508760"/>
          </a:xfrm>
          <a:prstGeom prst="rect">
            <a:avLst/>
          </a:prstGeom>
          <a:solidFill>
            <a:srgbClr val="1E3A8A"/>
          </a:solidFill>
          <a:ln w="12700">
            <a:solidFill>
              <a:srgbClr val="1E3A8A"/>
            </a:solidFill>
            <a:prstDash val="solid"/>
          </a:ln>
        </p:spPr>
        <p:txBody>
          <a:bodyPr/>
          <a:lstStyle/>
          <a:p>
            <a:endParaRPr lang="en-US"/>
          </a:p>
        </p:txBody>
      </p:sp>
      <p:sp>
        <p:nvSpPr>
          <p:cNvPr id="7" name="Text 5"/>
          <p:cNvSpPr/>
          <p:nvPr/>
        </p:nvSpPr>
        <p:spPr>
          <a:xfrm>
            <a:off x="658368" y="1527048"/>
            <a:ext cx="3703320" cy="32004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Logistic Regression</a:t>
            </a:r>
            <a:endParaRPr lang="en-US" sz="1400"/>
          </a:p>
        </p:txBody>
      </p:sp>
      <p:sp>
        <p:nvSpPr>
          <p:cNvPr id="8" name="Text 6"/>
          <p:cNvSpPr/>
          <p:nvPr/>
        </p:nvSpPr>
        <p:spPr>
          <a:xfrm>
            <a:off x="658368" y="1856232"/>
            <a:ext cx="3703320" cy="73152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Linear classifier. Learns a weight per word per class; high-weight words push toward that class.</a:t>
            </a:r>
            <a:endParaRPr lang="en-US" sz="1050"/>
          </a:p>
        </p:txBody>
      </p:sp>
      <p:sp>
        <p:nvSpPr>
          <p:cNvPr id="9" name="Text 7"/>
          <p:cNvSpPr/>
          <p:nvPr/>
        </p:nvSpPr>
        <p:spPr>
          <a:xfrm>
            <a:off x="658368" y="2578608"/>
            <a:ext cx="3703320" cy="274320"/>
          </a:xfrm>
          <a:prstGeom prst="rect">
            <a:avLst/>
          </a:prstGeom>
          <a:noFill/>
          <a:ln/>
        </p:spPr>
        <p:txBody>
          <a:bodyPr wrap="square" lIns="0" tIns="0" rIns="0" bIns="0" rtlCol="0" anchor="ctr"/>
          <a:lstStyle/>
          <a:p>
            <a:pPr marL="0" indent="0">
              <a:buNone/>
            </a:pPr>
            <a:r>
              <a:rPr lang="en-US" sz="950" i="1">
                <a:solidFill>
                  <a:srgbClr val="64748B"/>
                </a:solidFill>
                <a:latin typeface="Consolas" pitchFamily="34" charset="0"/>
                <a:ea typeface="Consolas" pitchFamily="34" charset="-122"/>
                <a:cs typeface="Consolas" pitchFamily="34" charset="-120"/>
              </a:rPr>
              <a:t>maxIter = 30  ·  regParam = 0.01</a:t>
            </a:r>
            <a:endParaRPr lang="en-US" sz="950"/>
          </a:p>
        </p:txBody>
      </p:sp>
      <p:sp>
        <p:nvSpPr>
          <p:cNvPr id="10" name="Shape 8"/>
          <p:cNvSpPr/>
          <p:nvPr/>
        </p:nvSpPr>
        <p:spPr>
          <a:xfrm>
            <a:off x="4617720" y="1417320"/>
            <a:ext cx="4023360" cy="1508760"/>
          </a:xfrm>
          <a:prstGeom prst="rect">
            <a:avLst/>
          </a:prstGeom>
          <a:solidFill>
            <a:srgbClr val="FFFFFF"/>
          </a:solidFill>
          <a:ln w="9525">
            <a:solidFill>
              <a:srgbClr val="E2E8F0"/>
            </a:solidFill>
            <a:prstDash val="solid"/>
          </a:ln>
        </p:spPr>
        <p:txBody>
          <a:bodyPr/>
          <a:lstStyle/>
          <a:p>
            <a:endParaRPr lang="en-US"/>
          </a:p>
        </p:txBody>
      </p:sp>
      <p:sp>
        <p:nvSpPr>
          <p:cNvPr id="11" name="Shape 9"/>
          <p:cNvSpPr/>
          <p:nvPr/>
        </p:nvSpPr>
        <p:spPr>
          <a:xfrm>
            <a:off x="4617720" y="1417320"/>
            <a:ext cx="64008" cy="1508760"/>
          </a:xfrm>
          <a:prstGeom prst="rect">
            <a:avLst/>
          </a:prstGeom>
          <a:solidFill>
            <a:srgbClr val="1E3A8A"/>
          </a:solidFill>
          <a:ln w="12700">
            <a:solidFill>
              <a:srgbClr val="1E3A8A"/>
            </a:solidFill>
            <a:prstDash val="solid"/>
          </a:ln>
        </p:spPr>
        <p:txBody>
          <a:bodyPr/>
          <a:lstStyle/>
          <a:p>
            <a:endParaRPr lang="en-US"/>
          </a:p>
        </p:txBody>
      </p:sp>
      <p:sp>
        <p:nvSpPr>
          <p:cNvPr id="12" name="Text 10"/>
          <p:cNvSpPr/>
          <p:nvPr/>
        </p:nvSpPr>
        <p:spPr>
          <a:xfrm>
            <a:off x="4818888" y="1527048"/>
            <a:ext cx="3703320" cy="32004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Naive Bayes</a:t>
            </a:r>
            <a:endParaRPr lang="en-US" sz="1400"/>
          </a:p>
        </p:txBody>
      </p:sp>
      <p:sp>
        <p:nvSpPr>
          <p:cNvPr id="13" name="Text 11"/>
          <p:cNvSpPr/>
          <p:nvPr/>
        </p:nvSpPr>
        <p:spPr>
          <a:xfrm>
            <a:off x="4818888" y="1856232"/>
            <a:ext cx="3703320" cy="73152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Probabilistic. Assumes word occurrences are independent given the class. Fast and surprisingly strong on text.</a:t>
            </a:r>
            <a:endParaRPr lang="en-US" sz="1050"/>
          </a:p>
        </p:txBody>
      </p:sp>
      <p:sp>
        <p:nvSpPr>
          <p:cNvPr id="14" name="Text 12"/>
          <p:cNvSpPr/>
          <p:nvPr/>
        </p:nvSpPr>
        <p:spPr>
          <a:xfrm>
            <a:off x="4818888" y="2578608"/>
            <a:ext cx="3703320" cy="274320"/>
          </a:xfrm>
          <a:prstGeom prst="rect">
            <a:avLst/>
          </a:prstGeom>
          <a:noFill/>
          <a:ln/>
        </p:spPr>
        <p:txBody>
          <a:bodyPr wrap="square" lIns="0" tIns="0" rIns="0" bIns="0" rtlCol="0" anchor="ctr"/>
          <a:lstStyle/>
          <a:p>
            <a:pPr marL="0" indent="0">
              <a:buNone/>
            </a:pPr>
            <a:r>
              <a:rPr lang="en-US" sz="950" i="1">
                <a:solidFill>
                  <a:srgbClr val="64748B"/>
                </a:solidFill>
                <a:latin typeface="Consolas" pitchFamily="34" charset="0"/>
                <a:ea typeface="Consolas" pitchFamily="34" charset="-122"/>
                <a:cs typeface="Consolas" pitchFamily="34" charset="-120"/>
              </a:rPr>
              <a:t>multinomial  ·  smoothing = 1.0</a:t>
            </a:r>
            <a:endParaRPr lang="en-US" sz="950"/>
          </a:p>
        </p:txBody>
      </p:sp>
      <p:sp>
        <p:nvSpPr>
          <p:cNvPr id="15" name="Shape 13"/>
          <p:cNvSpPr/>
          <p:nvPr/>
        </p:nvSpPr>
        <p:spPr>
          <a:xfrm>
            <a:off x="457200" y="3063240"/>
            <a:ext cx="4023360" cy="1508760"/>
          </a:xfrm>
          <a:prstGeom prst="rect">
            <a:avLst/>
          </a:prstGeom>
          <a:solidFill>
            <a:srgbClr val="FFFFFF"/>
          </a:solidFill>
          <a:ln w="9525">
            <a:solidFill>
              <a:srgbClr val="E2E8F0"/>
            </a:solidFill>
            <a:prstDash val="solid"/>
          </a:ln>
        </p:spPr>
        <p:txBody>
          <a:bodyPr/>
          <a:lstStyle/>
          <a:p>
            <a:endParaRPr lang="en-US"/>
          </a:p>
        </p:txBody>
      </p:sp>
      <p:sp>
        <p:nvSpPr>
          <p:cNvPr id="16" name="Shape 14"/>
          <p:cNvSpPr/>
          <p:nvPr/>
        </p:nvSpPr>
        <p:spPr>
          <a:xfrm>
            <a:off x="457200" y="3063240"/>
            <a:ext cx="64008" cy="1508760"/>
          </a:xfrm>
          <a:prstGeom prst="rect">
            <a:avLst/>
          </a:prstGeom>
          <a:solidFill>
            <a:srgbClr val="1E3A8A"/>
          </a:solidFill>
          <a:ln w="12700">
            <a:solidFill>
              <a:srgbClr val="1E3A8A"/>
            </a:solidFill>
            <a:prstDash val="solid"/>
          </a:ln>
        </p:spPr>
        <p:txBody>
          <a:bodyPr/>
          <a:lstStyle/>
          <a:p>
            <a:endParaRPr lang="en-US"/>
          </a:p>
        </p:txBody>
      </p:sp>
      <p:sp>
        <p:nvSpPr>
          <p:cNvPr id="17" name="Text 15"/>
          <p:cNvSpPr/>
          <p:nvPr/>
        </p:nvSpPr>
        <p:spPr>
          <a:xfrm>
            <a:off x="658368" y="3172968"/>
            <a:ext cx="3703320" cy="32004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Decision Tree</a:t>
            </a:r>
            <a:endParaRPr lang="en-US" sz="1400"/>
          </a:p>
        </p:txBody>
      </p:sp>
      <p:sp>
        <p:nvSpPr>
          <p:cNvPr id="18" name="Text 16"/>
          <p:cNvSpPr/>
          <p:nvPr/>
        </p:nvSpPr>
        <p:spPr>
          <a:xfrm>
            <a:off x="658368" y="3502152"/>
            <a:ext cx="3703320" cy="73152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Rule-based. Splits the feature space with yes/no questions until each leaf is mostly one class.</a:t>
            </a:r>
            <a:endParaRPr lang="en-US" sz="1050"/>
          </a:p>
        </p:txBody>
      </p:sp>
      <p:sp>
        <p:nvSpPr>
          <p:cNvPr id="19" name="Text 17"/>
          <p:cNvSpPr/>
          <p:nvPr/>
        </p:nvSpPr>
        <p:spPr>
          <a:xfrm>
            <a:off x="658368" y="4224528"/>
            <a:ext cx="3703320" cy="274320"/>
          </a:xfrm>
          <a:prstGeom prst="rect">
            <a:avLst/>
          </a:prstGeom>
          <a:noFill/>
          <a:ln/>
        </p:spPr>
        <p:txBody>
          <a:bodyPr wrap="square" lIns="0" tIns="0" rIns="0" bIns="0" rtlCol="0" anchor="ctr"/>
          <a:lstStyle/>
          <a:p>
            <a:pPr marL="0" indent="0">
              <a:buNone/>
            </a:pPr>
            <a:r>
              <a:rPr lang="en-US" sz="950" i="1">
                <a:solidFill>
                  <a:srgbClr val="64748B"/>
                </a:solidFill>
                <a:latin typeface="Consolas" pitchFamily="34" charset="0"/>
                <a:ea typeface="Consolas" pitchFamily="34" charset="-122"/>
                <a:cs typeface="Consolas" pitchFamily="34" charset="-120"/>
              </a:rPr>
              <a:t>maxDepth = 8</a:t>
            </a:r>
            <a:endParaRPr lang="en-US" sz="950"/>
          </a:p>
        </p:txBody>
      </p:sp>
      <p:sp>
        <p:nvSpPr>
          <p:cNvPr id="20" name="Shape 18"/>
          <p:cNvSpPr/>
          <p:nvPr/>
        </p:nvSpPr>
        <p:spPr>
          <a:xfrm>
            <a:off x="4617720" y="3063240"/>
            <a:ext cx="4023360" cy="1508760"/>
          </a:xfrm>
          <a:prstGeom prst="rect">
            <a:avLst/>
          </a:prstGeom>
          <a:solidFill>
            <a:srgbClr val="FFFFFF"/>
          </a:solidFill>
          <a:ln w="9525">
            <a:solidFill>
              <a:srgbClr val="E2E8F0"/>
            </a:solidFill>
            <a:prstDash val="solid"/>
          </a:ln>
        </p:spPr>
        <p:txBody>
          <a:bodyPr/>
          <a:lstStyle/>
          <a:p>
            <a:endParaRPr lang="en-US"/>
          </a:p>
        </p:txBody>
      </p:sp>
      <p:sp>
        <p:nvSpPr>
          <p:cNvPr id="21" name="Shape 19"/>
          <p:cNvSpPr/>
          <p:nvPr/>
        </p:nvSpPr>
        <p:spPr>
          <a:xfrm>
            <a:off x="4617720" y="3063240"/>
            <a:ext cx="64008" cy="1508760"/>
          </a:xfrm>
          <a:prstGeom prst="rect">
            <a:avLst/>
          </a:prstGeom>
          <a:solidFill>
            <a:srgbClr val="1E3A8A"/>
          </a:solidFill>
          <a:ln w="12700">
            <a:solidFill>
              <a:srgbClr val="1E3A8A"/>
            </a:solidFill>
            <a:prstDash val="solid"/>
          </a:ln>
        </p:spPr>
        <p:txBody>
          <a:bodyPr/>
          <a:lstStyle/>
          <a:p>
            <a:endParaRPr lang="en-US"/>
          </a:p>
        </p:txBody>
      </p:sp>
      <p:sp>
        <p:nvSpPr>
          <p:cNvPr id="22" name="Text 20"/>
          <p:cNvSpPr/>
          <p:nvPr/>
        </p:nvSpPr>
        <p:spPr>
          <a:xfrm>
            <a:off x="4818888" y="3172968"/>
            <a:ext cx="3703320" cy="32004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MLP Neural Network</a:t>
            </a:r>
            <a:endParaRPr lang="en-US" sz="1400"/>
          </a:p>
        </p:txBody>
      </p:sp>
      <p:sp>
        <p:nvSpPr>
          <p:cNvPr id="23" name="Text 21"/>
          <p:cNvSpPr/>
          <p:nvPr/>
        </p:nvSpPr>
        <p:spPr>
          <a:xfrm>
            <a:off x="4818888" y="3502152"/>
            <a:ext cx="3703320" cy="731520"/>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Feed-forward neural net with two hidden layers. Can learn non-linear feature combinations.</a:t>
            </a:r>
            <a:endParaRPr lang="en-US" sz="1050"/>
          </a:p>
        </p:txBody>
      </p:sp>
      <p:sp>
        <p:nvSpPr>
          <p:cNvPr id="24" name="Text 22"/>
          <p:cNvSpPr/>
          <p:nvPr/>
        </p:nvSpPr>
        <p:spPr>
          <a:xfrm>
            <a:off x="4818888" y="4224528"/>
            <a:ext cx="3703320" cy="274320"/>
          </a:xfrm>
          <a:prstGeom prst="rect">
            <a:avLst/>
          </a:prstGeom>
          <a:noFill/>
          <a:ln/>
        </p:spPr>
        <p:txBody>
          <a:bodyPr wrap="square" lIns="0" tIns="0" rIns="0" bIns="0" rtlCol="0" anchor="ctr"/>
          <a:lstStyle/>
          <a:p>
            <a:pPr marL="0" indent="0">
              <a:buNone/>
            </a:pPr>
            <a:r>
              <a:rPr lang="en-US" sz="950" i="1">
                <a:solidFill>
                  <a:srgbClr val="64748B"/>
                </a:solidFill>
                <a:latin typeface="Consolas" pitchFamily="34" charset="0"/>
                <a:ea typeface="Consolas" pitchFamily="34" charset="-122"/>
                <a:cs typeface="Consolas" pitchFamily="34" charset="-120"/>
              </a:rPr>
              <a:t>layers = 15002 → 128 → 64 → 40  ·  maxIter = 50</a:t>
            </a:r>
            <a:endParaRPr lang="en-US" sz="950"/>
          </a:p>
        </p:txBody>
      </p:sp>
      <p:sp>
        <p:nvSpPr>
          <p:cNvPr id="25" name="Text 23"/>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26" name="Text 24"/>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6 / 12</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EVALUATION</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How We Measured Performance</a:t>
            </a:r>
            <a:endParaRPr lang="en-US" sz="2800"/>
          </a:p>
        </p:txBody>
      </p:sp>
      <p:sp>
        <p:nvSpPr>
          <p:cNvPr id="5" name="Shape 3"/>
          <p:cNvSpPr/>
          <p:nvPr/>
        </p:nvSpPr>
        <p:spPr>
          <a:xfrm>
            <a:off x="457200" y="1508760"/>
            <a:ext cx="4023360" cy="1691640"/>
          </a:xfrm>
          <a:prstGeom prst="rect">
            <a:avLst/>
          </a:prstGeom>
          <a:solidFill>
            <a:srgbClr val="F8FAFC"/>
          </a:solidFill>
          <a:ln w="9525">
            <a:solidFill>
              <a:srgbClr val="E2E8F0"/>
            </a:solidFill>
            <a:prstDash val="solid"/>
          </a:ln>
        </p:spPr>
        <p:txBody>
          <a:bodyPr/>
          <a:lstStyle/>
          <a:p>
            <a:endParaRPr lang="en-US"/>
          </a:p>
        </p:txBody>
      </p:sp>
      <p:sp>
        <p:nvSpPr>
          <p:cNvPr id="6" name="Text 4"/>
          <p:cNvSpPr/>
          <p:nvPr/>
        </p:nvSpPr>
        <p:spPr>
          <a:xfrm>
            <a:off x="685800" y="1627632"/>
            <a:ext cx="3657600" cy="384048"/>
          </a:xfrm>
          <a:prstGeom prst="rect">
            <a:avLst/>
          </a:prstGeom>
          <a:noFill/>
          <a:ln/>
        </p:spPr>
        <p:txBody>
          <a:bodyPr wrap="square" lIns="0" tIns="0" rIns="0" bIns="0" rtlCol="0" anchor="ctr"/>
          <a:lstStyle/>
          <a:p>
            <a:pPr marL="0" indent="0">
              <a:buNone/>
            </a:pPr>
            <a:r>
              <a:rPr lang="en-US" sz="1800" b="1">
                <a:solidFill>
                  <a:srgbClr val="1E3A8A"/>
                </a:solidFill>
                <a:latin typeface="Georgia" pitchFamily="34" charset="0"/>
                <a:ea typeface="Georgia" pitchFamily="34" charset="-122"/>
                <a:cs typeface="Georgia" pitchFamily="34" charset="-120"/>
              </a:rPr>
              <a:t>Accuracy</a:t>
            </a:r>
            <a:endParaRPr lang="en-US" sz="1800"/>
          </a:p>
        </p:txBody>
      </p:sp>
      <p:sp>
        <p:nvSpPr>
          <p:cNvPr id="7" name="Text 5"/>
          <p:cNvSpPr/>
          <p:nvPr/>
        </p:nvSpPr>
        <p:spPr>
          <a:xfrm>
            <a:off x="685800" y="2057400"/>
            <a:ext cx="3657600" cy="822960"/>
          </a:xfrm>
          <a:prstGeom prst="rect">
            <a:avLst/>
          </a:prstGeom>
          <a:noFill/>
          <a:ln/>
        </p:spPr>
        <p:txBody>
          <a:bodyPr wrap="square" lIns="0" tIns="0" rIns="0" bIns="0" rtlCol="0" anchor="t"/>
          <a:lstStyle/>
          <a:p>
            <a:pPr marL="0" indent="0">
              <a:buNone/>
            </a:pPr>
            <a:r>
              <a:rPr lang="en-US" sz="1100">
                <a:solidFill>
                  <a:srgbClr val="334155"/>
                </a:solidFill>
                <a:latin typeface="Calibri" pitchFamily="34" charset="0"/>
                <a:ea typeface="Calibri" pitchFamily="34" charset="-122"/>
                <a:cs typeface="Calibri" pitchFamily="34" charset="-120"/>
              </a:rPr>
              <a:t>Fraction of test comments where the predicted subreddit matches the true subreddit.</a:t>
            </a:r>
            <a:endParaRPr lang="en-US" sz="1100"/>
          </a:p>
        </p:txBody>
      </p:sp>
      <p:sp>
        <p:nvSpPr>
          <p:cNvPr id="8" name="Text 6"/>
          <p:cNvSpPr/>
          <p:nvPr/>
        </p:nvSpPr>
        <p:spPr>
          <a:xfrm>
            <a:off x="685800" y="2880360"/>
            <a:ext cx="3657600" cy="274320"/>
          </a:xfrm>
          <a:prstGeom prst="rect">
            <a:avLst/>
          </a:prstGeom>
          <a:noFill/>
          <a:ln/>
        </p:spPr>
        <p:txBody>
          <a:bodyPr wrap="square" lIns="0" tIns="0" rIns="0" bIns="0" rtlCol="0" anchor="ctr"/>
          <a:lstStyle/>
          <a:p>
            <a:pPr marL="0" indent="0">
              <a:buNone/>
            </a:pPr>
            <a:r>
              <a:rPr lang="en-US" sz="1000" i="1">
                <a:solidFill>
                  <a:srgbClr val="64748B"/>
                </a:solidFill>
                <a:latin typeface="Consolas" pitchFamily="34" charset="0"/>
                <a:ea typeface="Consolas" pitchFamily="34" charset="-122"/>
                <a:cs typeface="Consolas" pitchFamily="34" charset="-120"/>
              </a:rPr>
              <a:t>(correct predictions) / (total)</a:t>
            </a:r>
            <a:endParaRPr lang="en-US" sz="1000"/>
          </a:p>
        </p:txBody>
      </p:sp>
      <p:sp>
        <p:nvSpPr>
          <p:cNvPr id="9" name="Shape 7"/>
          <p:cNvSpPr/>
          <p:nvPr/>
        </p:nvSpPr>
        <p:spPr>
          <a:xfrm>
            <a:off x="4617720" y="1508760"/>
            <a:ext cx="4023360" cy="1691640"/>
          </a:xfrm>
          <a:prstGeom prst="rect">
            <a:avLst/>
          </a:prstGeom>
          <a:solidFill>
            <a:srgbClr val="F8FAFC"/>
          </a:solidFill>
          <a:ln w="9525">
            <a:solidFill>
              <a:srgbClr val="E2E8F0"/>
            </a:solidFill>
            <a:prstDash val="solid"/>
          </a:ln>
        </p:spPr>
        <p:txBody>
          <a:bodyPr/>
          <a:lstStyle/>
          <a:p>
            <a:endParaRPr lang="en-US"/>
          </a:p>
        </p:txBody>
      </p:sp>
      <p:sp>
        <p:nvSpPr>
          <p:cNvPr id="10" name="Text 8"/>
          <p:cNvSpPr/>
          <p:nvPr/>
        </p:nvSpPr>
        <p:spPr>
          <a:xfrm>
            <a:off x="4846320" y="1627632"/>
            <a:ext cx="3657600" cy="384048"/>
          </a:xfrm>
          <a:prstGeom prst="rect">
            <a:avLst/>
          </a:prstGeom>
          <a:noFill/>
          <a:ln/>
        </p:spPr>
        <p:txBody>
          <a:bodyPr wrap="square" lIns="0" tIns="0" rIns="0" bIns="0" rtlCol="0" anchor="ctr"/>
          <a:lstStyle/>
          <a:p>
            <a:pPr marL="0" indent="0">
              <a:buNone/>
            </a:pPr>
            <a:r>
              <a:rPr lang="en-US" sz="1800" b="1">
                <a:solidFill>
                  <a:srgbClr val="1E3A8A"/>
                </a:solidFill>
                <a:latin typeface="Georgia" pitchFamily="34" charset="0"/>
                <a:ea typeface="Georgia" pitchFamily="34" charset="-122"/>
                <a:cs typeface="Georgia" pitchFamily="34" charset="-120"/>
              </a:rPr>
              <a:t>Macro F1</a:t>
            </a:r>
            <a:endParaRPr lang="en-US" sz="1800"/>
          </a:p>
        </p:txBody>
      </p:sp>
      <p:sp>
        <p:nvSpPr>
          <p:cNvPr id="11" name="Text 9"/>
          <p:cNvSpPr/>
          <p:nvPr/>
        </p:nvSpPr>
        <p:spPr>
          <a:xfrm>
            <a:off x="4846320" y="2057400"/>
            <a:ext cx="3657600" cy="822960"/>
          </a:xfrm>
          <a:prstGeom prst="rect">
            <a:avLst/>
          </a:prstGeom>
          <a:noFill/>
          <a:ln/>
        </p:spPr>
        <p:txBody>
          <a:bodyPr wrap="square" lIns="0" tIns="0" rIns="0" bIns="0" rtlCol="0" anchor="t"/>
          <a:lstStyle/>
          <a:p>
            <a:pPr marL="0" indent="0">
              <a:buNone/>
            </a:pPr>
            <a:r>
              <a:rPr lang="en-US" sz="1100">
                <a:solidFill>
                  <a:srgbClr val="334155"/>
                </a:solidFill>
                <a:latin typeface="Calibri" pitchFamily="34" charset="0"/>
                <a:ea typeface="Calibri" pitchFamily="34" charset="-122"/>
                <a:cs typeface="Calibri" pitchFamily="34" charset="-120"/>
              </a:rPr>
              <a:t>Harmonic mean of precision and recall, averaged across all 40 classes — treats every subreddit equally.</a:t>
            </a:r>
            <a:endParaRPr lang="en-US" sz="1100"/>
          </a:p>
        </p:txBody>
      </p:sp>
      <p:sp>
        <p:nvSpPr>
          <p:cNvPr id="12" name="Text 10"/>
          <p:cNvSpPr/>
          <p:nvPr/>
        </p:nvSpPr>
        <p:spPr>
          <a:xfrm>
            <a:off x="4846320" y="2880360"/>
            <a:ext cx="3657600" cy="274320"/>
          </a:xfrm>
          <a:prstGeom prst="rect">
            <a:avLst/>
          </a:prstGeom>
          <a:noFill/>
          <a:ln/>
        </p:spPr>
        <p:txBody>
          <a:bodyPr wrap="square" lIns="0" tIns="0" rIns="0" bIns="0" rtlCol="0" anchor="ctr"/>
          <a:lstStyle/>
          <a:p>
            <a:pPr marL="0" indent="0">
              <a:buNone/>
            </a:pPr>
            <a:r>
              <a:rPr lang="en-US" sz="1000" i="1">
                <a:solidFill>
                  <a:srgbClr val="64748B"/>
                </a:solidFill>
                <a:latin typeface="Consolas" pitchFamily="34" charset="0"/>
                <a:ea typeface="Consolas" pitchFamily="34" charset="-122"/>
                <a:cs typeface="Consolas" pitchFamily="34" charset="-120"/>
              </a:rPr>
              <a:t>balances precision &amp; recall</a:t>
            </a:r>
            <a:endParaRPr lang="en-US" sz="1000"/>
          </a:p>
        </p:txBody>
      </p:sp>
      <p:sp>
        <p:nvSpPr>
          <p:cNvPr id="13" name="Text 11"/>
          <p:cNvSpPr/>
          <p:nvPr/>
        </p:nvSpPr>
        <p:spPr>
          <a:xfrm>
            <a:off x="457200" y="3474720"/>
            <a:ext cx="82296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REFERENCE POINTS</a:t>
            </a:r>
            <a:endParaRPr lang="en-US" sz="1000"/>
          </a:p>
        </p:txBody>
      </p:sp>
      <p:sp>
        <p:nvSpPr>
          <p:cNvPr id="14" name="Shape 12"/>
          <p:cNvSpPr/>
          <p:nvPr/>
        </p:nvSpPr>
        <p:spPr>
          <a:xfrm>
            <a:off x="457200" y="3794760"/>
            <a:ext cx="2606040" cy="914400"/>
          </a:xfrm>
          <a:prstGeom prst="rect">
            <a:avLst/>
          </a:prstGeom>
          <a:solidFill>
            <a:srgbClr val="FFFFFF"/>
          </a:solidFill>
          <a:ln w="9525">
            <a:solidFill>
              <a:srgbClr val="E2E8F0"/>
            </a:solidFill>
            <a:prstDash val="solid"/>
          </a:ln>
        </p:spPr>
        <p:txBody>
          <a:bodyPr/>
          <a:lstStyle/>
          <a:p>
            <a:endParaRPr lang="en-US"/>
          </a:p>
        </p:txBody>
      </p:sp>
      <p:sp>
        <p:nvSpPr>
          <p:cNvPr id="15" name="Text 13"/>
          <p:cNvSpPr/>
          <p:nvPr/>
        </p:nvSpPr>
        <p:spPr>
          <a:xfrm>
            <a:off x="594360" y="3886200"/>
            <a:ext cx="2331720" cy="411480"/>
          </a:xfrm>
          <a:prstGeom prst="rect">
            <a:avLst/>
          </a:prstGeom>
          <a:noFill/>
          <a:ln/>
        </p:spPr>
        <p:txBody>
          <a:bodyPr wrap="square" lIns="0" tIns="0" rIns="0" bIns="0" rtlCol="0" anchor="ctr"/>
          <a:lstStyle/>
          <a:p>
            <a:pPr marL="0" indent="0">
              <a:buNone/>
            </a:pPr>
            <a:r>
              <a:rPr lang="en-US" sz="2200" b="1">
                <a:solidFill>
                  <a:srgbClr val="EA580C"/>
                </a:solidFill>
                <a:latin typeface="Georgia" pitchFamily="34" charset="0"/>
                <a:ea typeface="Georgia" pitchFamily="34" charset="-122"/>
                <a:cs typeface="Georgia" pitchFamily="34" charset="-120"/>
              </a:rPr>
              <a:t>2.5%</a:t>
            </a:r>
            <a:endParaRPr lang="en-US" sz="2200"/>
          </a:p>
        </p:txBody>
      </p:sp>
      <p:sp>
        <p:nvSpPr>
          <p:cNvPr id="16" name="Text 14"/>
          <p:cNvSpPr/>
          <p:nvPr/>
        </p:nvSpPr>
        <p:spPr>
          <a:xfrm>
            <a:off x="594360" y="4315968"/>
            <a:ext cx="23317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Random-guess baseline (1 / 40)</a:t>
            </a:r>
            <a:endParaRPr lang="en-US" sz="1000"/>
          </a:p>
        </p:txBody>
      </p:sp>
      <p:sp>
        <p:nvSpPr>
          <p:cNvPr id="17" name="Shape 15"/>
          <p:cNvSpPr/>
          <p:nvPr/>
        </p:nvSpPr>
        <p:spPr>
          <a:xfrm>
            <a:off x="3246120" y="3794760"/>
            <a:ext cx="2606040" cy="914400"/>
          </a:xfrm>
          <a:prstGeom prst="rect">
            <a:avLst/>
          </a:prstGeom>
          <a:solidFill>
            <a:srgbClr val="FFFFFF"/>
          </a:solidFill>
          <a:ln w="9525">
            <a:solidFill>
              <a:srgbClr val="E2E8F0"/>
            </a:solidFill>
            <a:prstDash val="solid"/>
          </a:ln>
        </p:spPr>
        <p:txBody>
          <a:bodyPr/>
          <a:lstStyle/>
          <a:p>
            <a:endParaRPr lang="en-US"/>
          </a:p>
        </p:txBody>
      </p:sp>
      <p:sp>
        <p:nvSpPr>
          <p:cNvPr id="18" name="Text 16"/>
          <p:cNvSpPr/>
          <p:nvPr/>
        </p:nvSpPr>
        <p:spPr>
          <a:xfrm>
            <a:off x="3383280" y="3886200"/>
            <a:ext cx="2331720" cy="411480"/>
          </a:xfrm>
          <a:prstGeom prst="rect">
            <a:avLst/>
          </a:prstGeom>
          <a:noFill/>
          <a:ln/>
        </p:spPr>
        <p:txBody>
          <a:bodyPr wrap="square" lIns="0" tIns="0" rIns="0" bIns="0" rtlCol="0" anchor="ctr"/>
          <a:lstStyle/>
          <a:p>
            <a:pPr marL="0" indent="0">
              <a:buNone/>
            </a:pPr>
            <a:r>
              <a:rPr lang="en-US" sz="2200" b="1">
                <a:solidFill>
                  <a:srgbClr val="EA580C"/>
                </a:solidFill>
                <a:latin typeface="Georgia" pitchFamily="34" charset="0"/>
                <a:ea typeface="Georgia" pitchFamily="34" charset="-122"/>
                <a:cs typeface="Georgia" pitchFamily="34" charset="-120"/>
              </a:rPr>
              <a:t>100%</a:t>
            </a:r>
            <a:endParaRPr lang="en-US" sz="2200"/>
          </a:p>
        </p:txBody>
      </p:sp>
      <p:sp>
        <p:nvSpPr>
          <p:cNvPr id="19" name="Text 17"/>
          <p:cNvSpPr/>
          <p:nvPr/>
        </p:nvSpPr>
        <p:spPr>
          <a:xfrm>
            <a:off x="3383280" y="4315968"/>
            <a:ext cx="23317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Theoretical ceiling — impossible in practice</a:t>
            </a:r>
            <a:endParaRPr lang="en-US" sz="1000"/>
          </a:p>
        </p:txBody>
      </p:sp>
      <p:sp>
        <p:nvSpPr>
          <p:cNvPr id="20" name="Shape 18"/>
          <p:cNvSpPr/>
          <p:nvPr/>
        </p:nvSpPr>
        <p:spPr>
          <a:xfrm>
            <a:off x="6035040" y="3794760"/>
            <a:ext cx="2606040" cy="914400"/>
          </a:xfrm>
          <a:prstGeom prst="rect">
            <a:avLst/>
          </a:prstGeom>
          <a:solidFill>
            <a:srgbClr val="FFFFFF"/>
          </a:solidFill>
          <a:ln w="9525">
            <a:solidFill>
              <a:srgbClr val="E2E8F0"/>
            </a:solidFill>
            <a:prstDash val="solid"/>
          </a:ln>
        </p:spPr>
        <p:txBody>
          <a:bodyPr/>
          <a:lstStyle/>
          <a:p>
            <a:endParaRPr lang="en-US"/>
          </a:p>
        </p:txBody>
      </p:sp>
      <p:sp>
        <p:nvSpPr>
          <p:cNvPr id="21" name="Text 19"/>
          <p:cNvSpPr/>
          <p:nvPr/>
        </p:nvSpPr>
        <p:spPr>
          <a:xfrm>
            <a:off x="6172200" y="3886200"/>
            <a:ext cx="2331720" cy="411480"/>
          </a:xfrm>
          <a:prstGeom prst="rect">
            <a:avLst/>
          </a:prstGeom>
          <a:noFill/>
          <a:ln/>
        </p:spPr>
        <p:txBody>
          <a:bodyPr wrap="square" lIns="0" tIns="0" rIns="0" bIns="0" rtlCol="0" anchor="ctr"/>
          <a:lstStyle/>
          <a:p>
            <a:pPr marL="0" indent="0">
              <a:buNone/>
            </a:pPr>
            <a:r>
              <a:rPr lang="en-US" sz="2200" b="1">
                <a:solidFill>
                  <a:srgbClr val="EA580C"/>
                </a:solidFill>
                <a:latin typeface="Georgia" pitchFamily="34" charset="0"/>
                <a:ea typeface="Georgia" pitchFamily="34" charset="-122"/>
                <a:cs typeface="Georgia" pitchFamily="34" charset="-120"/>
              </a:rPr>
              <a:t>80 / 20</a:t>
            </a:r>
            <a:endParaRPr lang="en-US" sz="2200"/>
          </a:p>
        </p:txBody>
      </p:sp>
      <p:sp>
        <p:nvSpPr>
          <p:cNvPr id="22" name="Text 20"/>
          <p:cNvSpPr/>
          <p:nvPr/>
        </p:nvSpPr>
        <p:spPr>
          <a:xfrm>
            <a:off x="6172200" y="4315968"/>
            <a:ext cx="23317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Train / test split ratio</a:t>
            </a:r>
            <a:endParaRPr lang="en-US" sz="1000"/>
          </a:p>
        </p:txBody>
      </p:sp>
      <p:sp>
        <p:nvSpPr>
          <p:cNvPr id="23" name="Text 21"/>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24" name="Text 22"/>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7 / 12</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PERFORMANCE</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Results</a:t>
            </a:r>
            <a:endParaRPr lang="en-US" sz="2800"/>
          </a:p>
        </p:txBody>
      </p:sp>
      <p:pic>
        <p:nvPicPr>
          <p:cNvPr id="5" name="Image 0" descr="/home/claude/user_imgs/results_bar.png"/>
          <p:cNvPicPr>
            <a:picLocks noChangeAspect="1"/>
          </p:cNvPicPr>
          <p:nvPr/>
        </p:nvPicPr>
        <p:blipFill>
          <a:blip r:embed="rId3"/>
          <a:srcRect/>
          <a:stretch/>
        </p:blipFill>
        <p:spPr>
          <a:xfrm>
            <a:off x="457200" y="1417320"/>
            <a:ext cx="5760720" cy="3291840"/>
          </a:xfrm>
          <a:prstGeom prst="rect">
            <a:avLst/>
          </a:prstGeom>
        </p:spPr>
      </p:pic>
      <p:sp>
        <p:nvSpPr>
          <p:cNvPr id="6" name="Shape 3"/>
          <p:cNvSpPr/>
          <p:nvPr/>
        </p:nvSpPr>
        <p:spPr>
          <a:xfrm>
            <a:off x="6446520" y="1417320"/>
            <a:ext cx="2240280" cy="1371600"/>
          </a:xfrm>
          <a:prstGeom prst="rect">
            <a:avLst/>
          </a:prstGeom>
          <a:solidFill>
            <a:srgbClr val="DBE3F4"/>
          </a:solidFill>
          <a:ln w="12700">
            <a:solidFill>
              <a:srgbClr val="DBE3F4"/>
            </a:solidFill>
            <a:prstDash val="solid"/>
          </a:ln>
        </p:spPr>
        <p:txBody>
          <a:bodyPr/>
          <a:lstStyle/>
          <a:p>
            <a:endParaRPr lang="en-US"/>
          </a:p>
        </p:txBody>
      </p:sp>
      <p:sp>
        <p:nvSpPr>
          <p:cNvPr id="7" name="Text 4"/>
          <p:cNvSpPr/>
          <p:nvPr/>
        </p:nvSpPr>
        <p:spPr>
          <a:xfrm>
            <a:off x="6629400" y="1536192"/>
            <a:ext cx="192024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WINNER</a:t>
            </a:r>
            <a:endParaRPr lang="en-US" sz="1000"/>
          </a:p>
        </p:txBody>
      </p:sp>
      <p:sp>
        <p:nvSpPr>
          <p:cNvPr id="8" name="Text 5"/>
          <p:cNvSpPr/>
          <p:nvPr/>
        </p:nvSpPr>
        <p:spPr>
          <a:xfrm>
            <a:off x="6629400" y="1783080"/>
            <a:ext cx="1920240" cy="777240"/>
          </a:xfrm>
          <a:prstGeom prst="rect">
            <a:avLst/>
          </a:prstGeom>
          <a:noFill/>
          <a:ln/>
        </p:spPr>
        <p:txBody>
          <a:bodyPr wrap="square" lIns="0" tIns="0" rIns="0" bIns="0" rtlCol="0" anchor="t"/>
          <a:lstStyle/>
          <a:p>
            <a:pPr marL="0" indent="0">
              <a:buNone/>
            </a:pPr>
            <a:r>
              <a:rPr lang="en-US" sz="2000" b="1">
                <a:solidFill>
                  <a:srgbClr val="0F172A"/>
                </a:solidFill>
                <a:latin typeface="Georgia" pitchFamily="34" charset="0"/>
                <a:ea typeface="Georgia" pitchFamily="34" charset="-122"/>
                <a:cs typeface="Georgia" pitchFamily="34" charset="-120"/>
              </a:rPr>
              <a:t>Logistic</a:t>
            </a:r>
            <a:endParaRPr lang="en-US" sz="2000"/>
          </a:p>
          <a:p>
            <a:pPr marL="0" indent="0">
              <a:buNone/>
            </a:pPr>
            <a:r>
              <a:rPr lang="en-US" sz="2000" b="1">
                <a:solidFill>
                  <a:srgbClr val="0F172A"/>
                </a:solidFill>
                <a:latin typeface="Georgia" pitchFamily="34" charset="0"/>
                <a:ea typeface="Georgia" pitchFamily="34" charset="-122"/>
                <a:cs typeface="Georgia" pitchFamily="34" charset="-120"/>
              </a:rPr>
              <a:t>Regression</a:t>
            </a:r>
            <a:endParaRPr lang="en-US" sz="2000"/>
          </a:p>
        </p:txBody>
      </p:sp>
      <p:sp>
        <p:nvSpPr>
          <p:cNvPr id="9" name="Text 6"/>
          <p:cNvSpPr/>
          <p:nvPr/>
        </p:nvSpPr>
        <p:spPr>
          <a:xfrm>
            <a:off x="6629400" y="2514600"/>
            <a:ext cx="1920240" cy="228600"/>
          </a:xfrm>
          <a:prstGeom prst="rect">
            <a:avLst/>
          </a:prstGeom>
          <a:noFill/>
          <a:ln/>
        </p:spPr>
        <p:txBody>
          <a:bodyPr wrap="square" lIns="0" tIns="0" rIns="0" bIns="0" rtlCol="0" anchor="ctr"/>
          <a:lstStyle/>
          <a:p>
            <a:pPr marL="0" indent="0">
              <a:buNone/>
            </a:pPr>
            <a:r>
              <a:rPr lang="en-US" sz="1600" b="1">
                <a:solidFill>
                  <a:srgbClr val="EA580C"/>
                </a:solidFill>
                <a:latin typeface="Calibri" pitchFamily="34" charset="0"/>
                <a:ea typeface="Calibri" pitchFamily="34" charset="-122"/>
                <a:cs typeface="Calibri" pitchFamily="34" charset="-120"/>
              </a:rPr>
              <a:t>0.413</a:t>
            </a:r>
            <a:r>
              <a:rPr lang="en-US" sz="1100">
                <a:solidFill>
                  <a:srgbClr val="334155"/>
                </a:solidFill>
                <a:latin typeface="Calibri" pitchFamily="34" charset="0"/>
                <a:ea typeface="Calibri" pitchFamily="34" charset="-122"/>
                <a:cs typeface="Calibri" pitchFamily="34" charset="-120"/>
              </a:rPr>
              <a:t>  macro F1</a:t>
            </a:r>
            <a:endParaRPr lang="en-US" sz="1600"/>
          </a:p>
        </p:txBody>
      </p:sp>
      <p:sp>
        <p:nvSpPr>
          <p:cNvPr id="10" name="Text 7"/>
          <p:cNvSpPr/>
          <p:nvPr/>
        </p:nvSpPr>
        <p:spPr>
          <a:xfrm>
            <a:off x="6446520" y="2971800"/>
            <a:ext cx="224028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KEY READS</a:t>
            </a:r>
            <a:endParaRPr lang="en-US" sz="1000"/>
          </a:p>
        </p:txBody>
      </p:sp>
      <p:sp>
        <p:nvSpPr>
          <p:cNvPr id="11" name="Text 8"/>
          <p:cNvSpPr/>
          <p:nvPr/>
        </p:nvSpPr>
        <p:spPr>
          <a:xfrm>
            <a:off x="6446520" y="3246120"/>
            <a:ext cx="2240280" cy="1417320"/>
          </a:xfrm>
          <a:prstGeom prst="rect">
            <a:avLst/>
          </a:prstGeom>
          <a:noFill/>
          <a:ln/>
        </p:spPr>
        <p:txBody>
          <a:bodyPr wrap="square" lIns="0" tIns="0" rIns="0" bIns="0" rtlCol="0" anchor="t"/>
          <a:lstStyle/>
          <a:p>
            <a:pPr marL="0" indent="0">
              <a:buNone/>
            </a:pPr>
            <a:r>
              <a:rPr lang="en-US" sz="1300" b="1">
                <a:solidFill>
                  <a:srgbClr val="EA580C"/>
                </a:solidFill>
                <a:latin typeface="Calibri" pitchFamily="34" charset="0"/>
                <a:ea typeface="Calibri" pitchFamily="34" charset="-122"/>
                <a:cs typeface="Calibri" pitchFamily="34" charset="-120"/>
              </a:rPr>
              <a:t>16×</a:t>
            </a:r>
            <a:r>
              <a:rPr lang="en-US" sz="1000">
                <a:solidFill>
                  <a:srgbClr val="334155"/>
                </a:solidFill>
                <a:latin typeface="Calibri" pitchFamily="34" charset="0"/>
                <a:ea typeface="Calibri" pitchFamily="34" charset="-122"/>
                <a:cs typeface="Calibri" pitchFamily="34" charset="-120"/>
              </a:rPr>
              <a:t> better than random (2.5%)</a:t>
            </a:r>
            <a:endParaRPr lang="en-US" sz="1300"/>
          </a:p>
          <a:p>
            <a:pPr marL="0" indent="0">
              <a:buNone/>
            </a:pPr>
            <a:r>
              <a:rPr lang="en-US" sz="1100" b="1">
                <a:solidFill>
                  <a:srgbClr val="0F172A"/>
                </a:solidFill>
                <a:latin typeface="Calibri" pitchFamily="34" charset="0"/>
                <a:ea typeface="Calibri" pitchFamily="34" charset="-122"/>
                <a:cs typeface="Calibri" pitchFamily="34" charset="-120"/>
              </a:rPr>
              <a:t>LR &gt; MLP</a:t>
            </a:r>
            <a:endParaRPr lang="en-US" sz="1300"/>
          </a:p>
          <a:p>
            <a:pPr marL="0" indent="0">
              <a:buNone/>
            </a:pPr>
            <a:r>
              <a:rPr lang="en-US" sz="950" i="1">
                <a:solidFill>
                  <a:srgbClr val="64748B"/>
                </a:solidFill>
                <a:latin typeface="Calibri" pitchFamily="34" charset="0"/>
                <a:ea typeface="Calibri" pitchFamily="34" charset="-122"/>
                <a:cs typeface="Calibri" pitchFamily="34" charset="-120"/>
              </a:rPr>
              <a:t>Simple beat complex</a:t>
            </a:r>
            <a:endParaRPr lang="en-US" sz="1300"/>
          </a:p>
          <a:p>
            <a:pPr marL="0" indent="0">
              <a:buNone/>
            </a:pPr>
            <a:r>
              <a:rPr lang="en-US" sz="400">
                <a:solidFill>
                  <a:srgbClr val="000000"/>
                </a:solidFill>
                <a:latin typeface="Calibri" pitchFamily="34" charset="0"/>
                <a:ea typeface="Calibri" pitchFamily="34" charset="-122"/>
                <a:cs typeface="Calibri" pitchFamily="34" charset="-120"/>
              </a:rPr>
              <a:t> </a:t>
            </a:r>
            <a:endParaRPr lang="en-US" sz="1300"/>
          </a:p>
          <a:p>
            <a:pPr marL="0" indent="0">
              <a:buNone/>
            </a:pPr>
            <a:r>
              <a:rPr lang="en-US" sz="1100" b="1">
                <a:solidFill>
                  <a:srgbClr val="0F172A"/>
                </a:solidFill>
                <a:latin typeface="Calibri" pitchFamily="34" charset="0"/>
                <a:ea typeface="Calibri" pitchFamily="34" charset="-122"/>
                <a:cs typeface="Calibri" pitchFamily="34" charset="-120"/>
              </a:rPr>
              <a:t>Tree collapses</a:t>
            </a:r>
            <a:endParaRPr lang="en-US" sz="1300"/>
          </a:p>
          <a:p>
            <a:pPr marL="0" indent="0">
              <a:buNone/>
            </a:pPr>
            <a:r>
              <a:rPr lang="en-US" sz="950" i="1">
                <a:solidFill>
                  <a:srgbClr val="64748B"/>
                </a:solidFill>
                <a:latin typeface="Calibri" pitchFamily="34" charset="0"/>
                <a:ea typeface="Calibri" pitchFamily="34" charset="-122"/>
                <a:cs typeface="Calibri" pitchFamily="34" charset="-120"/>
              </a:rPr>
              <a:t>At depth 8 on 15k features</a:t>
            </a:r>
            <a:endParaRPr lang="en-US" sz="1300"/>
          </a:p>
        </p:txBody>
      </p:sp>
      <p:sp>
        <p:nvSpPr>
          <p:cNvPr id="12" name="Text 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13" name="Text 10"/>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8 / 12</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ANALYSIS</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Why Each Model Performed That Way</a:t>
            </a:r>
            <a:endParaRPr lang="en-US" sz="2800"/>
          </a:p>
        </p:txBody>
      </p:sp>
      <p:sp>
        <p:nvSpPr>
          <p:cNvPr id="5" name="Shape 3"/>
          <p:cNvSpPr/>
          <p:nvPr/>
        </p:nvSpPr>
        <p:spPr>
          <a:xfrm>
            <a:off x="457200" y="1417320"/>
            <a:ext cx="960120" cy="640080"/>
          </a:xfrm>
          <a:prstGeom prst="rect">
            <a:avLst/>
          </a:prstGeom>
          <a:solidFill>
            <a:srgbClr val="F8FAFC"/>
          </a:solidFill>
          <a:ln w="9525">
            <a:solidFill>
              <a:srgbClr val="E2E8F0"/>
            </a:solidFill>
            <a:prstDash val="solid"/>
          </a:ln>
        </p:spPr>
        <p:txBody>
          <a:bodyPr/>
          <a:lstStyle/>
          <a:p>
            <a:endParaRPr lang="en-US"/>
          </a:p>
        </p:txBody>
      </p:sp>
      <p:sp>
        <p:nvSpPr>
          <p:cNvPr id="6" name="Text 4"/>
          <p:cNvSpPr/>
          <p:nvPr/>
        </p:nvSpPr>
        <p:spPr>
          <a:xfrm>
            <a:off x="457200" y="1417320"/>
            <a:ext cx="960120" cy="640080"/>
          </a:xfrm>
          <a:prstGeom prst="rect">
            <a:avLst/>
          </a:prstGeom>
          <a:noFill/>
          <a:ln/>
        </p:spPr>
        <p:txBody>
          <a:bodyPr wrap="square" lIns="0" tIns="0" rIns="0" bIns="0" rtlCol="0" anchor="ctr"/>
          <a:lstStyle/>
          <a:p>
            <a:pPr marL="0" indent="0" algn="ctr">
              <a:buNone/>
            </a:pPr>
            <a:r>
              <a:rPr lang="en-US" sz="1700" b="1">
                <a:solidFill>
                  <a:srgbClr val="EA580C"/>
                </a:solidFill>
                <a:latin typeface="Georgia" pitchFamily="34" charset="0"/>
                <a:ea typeface="Georgia" pitchFamily="34" charset="-122"/>
                <a:cs typeface="Georgia" pitchFamily="34" charset="-120"/>
              </a:rPr>
              <a:t>0.413</a:t>
            </a:r>
            <a:endParaRPr lang="en-US" sz="1700"/>
          </a:p>
        </p:txBody>
      </p:sp>
      <p:sp>
        <p:nvSpPr>
          <p:cNvPr id="7" name="Text 5"/>
          <p:cNvSpPr/>
          <p:nvPr/>
        </p:nvSpPr>
        <p:spPr>
          <a:xfrm>
            <a:off x="1600200" y="1399032"/>
            <a:ext cx="704088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Logistic Regression</a:t>
            </a:r>
            <a:endParaRPr lang="en-US" sz="1300"/>
          </a:p>
        </p:txBody>
      </p:sp>
      <p:sp>
        <p:nvSpPr>
          <p:cNvPr id="8" name="Text 6"/>
          <p:cNvSpPr/>
          <p:nvPr/>
        </p:nvSpPr>
        <p:spPr>
          <a:xfrm>
            <a:off x="1600200" y="1673352"/>
            <a:ext cx="7086600" cy="438912"/>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Text classification is roughly linear in TF-IDF space — a few distinctive words per subreddit are enough. Simple model + sparse high-dim features is a textbook match.</a:t>
            </a:r>
            <a:endParaRPr lang="en-US" sz="1050"/>
          </a:p>
        </p:txBody>
      </p:sp>
      <p:sp>
        <p:nvSpPr>
          <p:cNvPr id="9" name="Shape 7"/>
          <p:cNvSpPr/>
          <p:nvPr/>
        </p:nvSpPr>
        <p:spPr>
          <a:xfrm>
            <a:off x="457200" y="2194560"/>
            <a:ext cx="960120" cy="640080"/>
          </a:xfrm>
          <a:prstGeom prst="rect">
            <a:avLst/>
          </a:prstGeom>
          <a:solidFill>
            <a:srgbClr val="F8FAFC"/>
          </a:solidFill>
          <a:ln w="9525">
            <a:solidFill>
              <a:srgbClr val="E2E8F0"/>
            </a:solidFill>
            <a:prstDash val="solid"/>
          </a:ln>
        </p:spPr>
        <p:txBody>
          <a:bodyPr/>
          <a:lstStyle/>
          <a:p>
            <a:endParaRPr lang="en-US"/>
          </a:p>
        </p:txBody>
      </p:sp>
      <p:sp>
        <p:nvSpPr>
          <p:cNvPr id="10" name="Text 8"/>
          <p:cNvSpPr/>
          <p:nvPr/>
        </p:nvSpPr>
        <p:spPr>
          <a:xfrm>
            <a:off x="457200" y="2194560"/>
            <a:ext cx="960120" cy="640080"/>
          </a:xfrm>
          <a:prstGeom prst="rect">
            <a:avLst/>
          </a:prstGeom>
          <a:noFill/>
          <a:ln/>
        </p:spPr>
        <p:txBody>
          <a:bodyPr wrap="square" lIns="0" tIns="0" rIns="0" bIns="0" rtlCol="0" anchor="ctr"/>
          <a:lstStyle/>
          <a:p>
            <a:pPr marL="0" indent="0" algn="ctr">
              <a:buNone/>
            </a:pPr>
            <a:r>
              <a:rPr lang="en-US" sz="1700" b="1">
                <a:solidFill>
                  <a:srgbClr val="1E3A8A"/>
                </a:solidFill>
                <a:latin typeface="Georgia" pitchFamily="34" charset="0"/>
                <a:ea typeface="Georgia" pitchFamily="34" charset="-122"/>
                <a:cs typeface="Georgia" pitchFamily="34" charset="-120"/>
              </a:rPr>
              <a:t>0.352</a:t>
            </a:r>
            <a:endParaRPr lang="en-US" sz="1700"/>
          </a:p>
        </p:txBody>
      </p:sp>
      <p:sp>
        <p:nvSpPr>
          <p:cNvPr id="11" name="Text 9"/>
          <p:cNvSpPr/>
          <p:nvPr/>
        </p:nvSpPr>
        <p:spPr>
          <a:xfrm>
            <a:off x="1600200" y="2176272"/>
            <a:ext cx="704088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Naive Bayes</a:t>
            </a:r>
            <a:endParaRPr lang="en-US" sz="1300"/>
          </a:p>
        </p:txBody>
      </p:sp>
      <p:sp>
        <p:nvSpPr>
          <p:cNvPr id="12" name="Text 10"/>
          <p:cNvSpPr/>
          <p:nvPr/>
        </p:nvSpPr>
        <p:spPr>
          <a:xfrm>
            <a:off x="1600200" y="2450592"/>
            <a:ext cx="7086600" cy="438912"/>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The independence assumption is technically wrong (words co-occur), but it's a useful approximation at scale. Loses to LR because it can't capture anti-correlations between words.</a:t>
            </a:r>
            <a:endParaRPr lang="en-US" sz="1050"/>
          </a:p>
        </p:txBody>
      </p:sp>
      <p:sp>
        <p:nvSpPr>
          <p:cNvPr id="13" name="Shape 11"/>
          <p:cNvSpPr/>
          <p:nvPr/>
        </p:nvSpPr>
        <p:spPr>
          <a:xfrm>
            <a:off x="457200" y="2971800"/>
            <a:ext cx="960120" cy="640080"/>
          </a:xfrm>
          <a:prstGeom prst="rect">
            <a:avLst/>
          </a:prstGeom>
          <a:solidFill>
            <a:srgbClr val="F8FAFC"/>
          </a:solidFill>
          <a:ln w="9525">
            <a:solidFill>
              <a:srgbClr val="E2E8F0"/>
            </a:solidFill>
            <a:prstDash val="solid"/>
          </a:ln>
        </p:spPr>
        <p:txBody>
          <a:bodyPr/>
          <a:lstStyle/>
          <a:p>
            <a:endParaRPr lang="en-US"/>
          </a:p>
        </p:txBody>
      </p:sp>
      <p:sp>
        <p:nvSpPr>
          <p:cNvPr id="14" name="Text 12"/>
          <p:cNvSpPr/>
          <p:nvPr/>
        </p:nvSpPr>
        <p:spPr>
          <a:xfrm>
            <a:off x="457200" y="2971800"/>
            <a:ext cx="960120" cy="640080"/>
          </a:xfrm>
          <a:prstGeom prst="rect">
            <a:avLst/>
          </a:prstGeom>
          <a:noFill/>
          <a:ln/>
        </p:spPr>
        <p:txBody>
          <a:bodyPr wrap="square" lIns="0" tIns="0" rIns="0" bIns="0" rtlCol="0" anchor="ctr"/>
          <a:lstStyle/>
          <a:p>
            <a:pPr marL="0" indent="0" algn="ctr">
              <a:buNone/>
            </a:pPr>
            <a:r>
              <a:rPr lang="en-US" sz="1700" b="1">
                <a:solidFill>
                  <a:srgbClr val="1E3A8A"/>
                </a:solidFill>
                <a:latin typeface="Georgia" pitchFamily="34" charset="0"/>
                <a:ea typeface="Georgia" pitchFamily="34" charset="-122"/>
                <a:cs typeface="Georgia" pitchFamily="34" charset="-120"/>
              </a:rPr>
              <a:t>0.309</a:t>
            </a:r>
            <a:endParaRPr lang="en-US" sz="1700"/>
          </a:p>
        </p:txBody>
      </p:sp>
      <p:sp>
        <p:nvSpPr>
          <p:cNvPr id="15" name="Text 13"/>
          <p:cNvSpPr/>
          <p:nvPr/>
        </p:nvSpPr>
        <p:spPr>
          <a:xfrm>
            <a:off x="1600200" y="2953512"/>
            <a:ext cx="704088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MLP Neural Network</a:t>
            </a:r>
            <a:endParaRPr lang="en-US" sz="1300"/>
          </a:p>
        </p:txBody>
      </p:sp>
      <p:sp>
        <p:nvSpPr>
          <p:cNvPr id="16" name="Text 14"/>
          <p:cNvSpPr/>
          <p:nvPr/>
        </p:nvSpPr>
        <p:spPr>
          <a:xfrm>
            <a:off x="1600200" y="3227832"/>
            <a:ext cx="7086600" cy="438912"/>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Underperforms LR despite more capacity. With sparse TF-IDF input (no embedding layer) and only 50 training iterations, it never beats the linear model. Deep learning isn't automatically better on sparse text.</a:t>
            </a:r>
            <a:endParaRPr lang="en-US" sz="1050"/>
          </a:p>
        </p:txBody>
      </p:sp>
      <p:sp>
        <p:nvSpPr>
          <p:cNvPr id="17" name="Shape 15"/>
          <p:cNvSpPr/>
          <p:nvPr/>
        </p:nvSpPr>
        <p:spPr>
          <a:xfrm>
            <a:off x="457200" y="3749040"/>
            <a:ext cx="960120" cy="640080"/>
          </a:xfrm>
          <a:prstGeom prst="rect">
            <a:avLst/>
          </a:prstGeom>
          <a:solidFill>
            <a:srgbClr val="F8FAFC"/>
          </a:solidFill>
          <a:ln w="9525">
            <a:solidFill>
              <a:srgbClr val="E2E8F0"/>
            </a:solidFill>
            <a:prstDash val="solid"/>
          </a:ln>
        </p:spPr>
        <p:txBody>
          <a:bodyPr/>
          <a:lstStyle/>
          <a:p>
            <a:endParaRPr lang="en-US"/>
          </a:p>
        </p:txBody>
      </p:sp>
      <p:sp>
        <p:nvSpPr>
          <p:cNvPr id="18" name="Text 16"/>
          <p:cNvSpPr/>
          <p:nvPr/>
        </p:nvSpPr>
        <p:spPr>
          <a:xfrm>
            <a:off x="457200" y="3749040"/>
            <a:ext cx="960120" cy="640080"/>
          </a:xfrm>
          <a:prstGeom prst="rect">
            <a:avLst/>
          </a:prstGeom>
          <a:noFill/>
          <a:ln/>
        </p:spPr>
        <p:txBody>
          <a:bodyPr wrap="square" lIns="0" tIns="0" rIns="0" bIns="0" rtlCol="0" anchor="ctr"/>
          <a:lstStyle/>
          <a:p>
            <a:pPr marL="0" indent="0" algn="ctr">
              <a:buNone/>
            </a:pPr>
            <a:r>
              <a:rPr lang="en-US" sz="1700" b="1">
                <a:solidFill>
                  <a:srgbClr val="64748B"/>
                </a:solidFill>
                <a:latin typeface="Georgia" pitchFamily="34" charset="0"/>
                <a:ea typeface="Georgia" pitchFamily="34" charset="-122"/>
                <a:cs typeface="Georgia" pitchFamily="34" charset="-120"/>
              </a:rPr>
              <a:t>0.058</a:t>
            </a:r>
            <a:endParaRPr lang="en-US" sz="1700"/>
          </a:p>
        </p:txBody>
      </p:sp>
      <p:sp>
        <p:nvSpPr>
          <p:cNvPr id="19" name="Text 17"/>
          <p:cNvSpPr/>
          <p:nvPr/>
        </p:nvSpPr>
        <p:spPr>
          <a:xfrm>
            <a:off x="1600200" y="3730752"/>
            <a:ext cx="7040880" cy="292608"/>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Decision Tree</a:t>
            </a:r>
            <a:endParaRPr lang="en-US" sz="1300"/>
          </a:p>
        </p:txBody>
      </p:sp>
      <p:sp>
        <p:nvSpPr>
          <p:cNvPr id="20" name="Text 18"/>
          <p:cNvSpPr/>
          <p:nvPr/>
        </p:nvSpPr>
        <p:spPr>
          <a:xfrm>
            <a:off x="1600200" y="4005072"/>
            <a:ext cx="7086600" cy="438912"/>
          </a:xfrm>
          <a:prstGeom prst="rect">
            <a:avLst/>
          </a:prstGeom>
          <a:noFill/>
          <a:ln/>
        </p:spPr>
        <p:txBody>
          <a:bodyPr wrap="square" lIns="0" tIns="0" rIns="0" bIns="0" rtlCol="0" anchor="t"/>
          <a:lstStyle/>
          <a:p>
            <a:pPr marL="0" indent="0">
              <a:buNone/>
            </a:pPr>
            <a:r>
              <a:rPr lang="en-US" sz="1050">
                <a:solidFill>
                  <a:srgbClr val="334155"/>
                </a:solidFill>
                <a:latin typeface="Calibri" pitchFamily="34" charset="0"/>
                <a:ea typeface="Calibri" pitchFamily="34" charset="-122"/>
                <a:cs typeface="Calibri" pitchFamily="34" charset="-120"/>
              </a:rPr>
              <a:t>A single tree of depth 8 can only carve out 256 regions — not enough to separate 40 classes across 15,000 features. Wrong tool for sparse, high-dimensional problems.</a:t>
            </a:r>
            <a:endParaRPr lang="en-US" sz="1050"/>
          </a:p>
        </p:txBody>
      </p:sp>
      <p:sp>
        <p:nvSpPr>
          <p:cNvPr id="21"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22" name="Text 20"/>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9 / 12</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INTERPRETABILITY</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What the Model Learned</a:t>
            </a:r>
            <a:endParaRPr lang="en-US" sz="2800"/>
          </a:p>
        </p:txBody>
      </p:sp>
      <p:pic>
        <p:nvPicPr>
          <p:cNvPr id="5" name="Image 0" descr="/home/claude/user_imgs/top_words.png"/>
          <p:cNvPicPr>
            <a:picLocks noChangeAspect="1"/>
          </p:cNvPicPr>
          <p:nvPr/>
        </p:nvPicPr>
        <p:blipFill>
          <a:blip r:embed="rId3"/>
          <a:srcRect/>
          <a:stretch/>
        </p:blipFill>
        <p:spPr>
          <a:xfrm>
            <a:off x="457200" y="1417320"/>
            <a:ext cx="5760720" cy="3291840"/>
          </a:xfrm>
          <a:prstGeom prst="rect">
            <a:avLst/>
          </a:prstGeom>
        </p:spPr>
      </p:pic>
      <p:sp>
        <p:nvSpPr>
          <p:cNvPr id="6" name="Text 3"/>
          <p:cNvSpPr/>
          <p:nvPr/>
        </p:nvSpPr>
        <p:spPr>
          <a:xfrm>
            <a:off x="6400800" y="1417320"/>
            <a:ext cx="22860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OBSERVATIONS</a:t>
            </a:r>
            <a:endParaRPr lang="en-US" sz="1000"/>
          </a:p>
        </p:txBody>
      </p:sp>
      <p:sp>
        <p:nvSpPr>
          <p:cNvPr id="7" name="Text 4"/>
          <p:cNvSpPr/>
          <p:nvPr/>
        </p:nvSpPr>
        <p:spPr>
          <a:xfrm>
            <a:off x="6400800" y="1691640"/>
            <a:ext cx="2286000" cy="3017520"/>
          </a:xfrm>
          <a:prstGeom prst="rect">
            <a:avLst/>
          </a:prstGeom>
          <a:noFill/>
          <a:ln/>
        </p:spPr>
        <p:txBody>
          <a:bodyPr wrap="square" lIns="0" tIns="0" rIns="0" bIns="0" rtlCol="0" anchor="t"/>
          <a:lstStyle/>
          <a:p>
            <a:pPr marL="0" indent="0">
              <a:buNone/>
            </a:pPr>
            <a:r>
              <a:rPr lang="en-US" sz="1100" b="1">
                <a:solidFill>
                  <a:srgbClr val="0F172A"/>
                </a:solidFill>
                <a:latin typeface="Calibri" pitchFamily="34" charset="0"/>
                <a:ea typeface="Calibri" pitchFamily="34" charset="-122"/>
                <a:cs typeface="Calibri" pitchFamily="34" charset="-120"/>
              </a:rPr>
              <a:t>Top predictors per subreddit</a:t>
            </a:r>
            <a:endParaRPr lang="en-US" sz="1100"/>
          </a:p>
          <a:p>
            <a:pPr marL="0" indent="0">
              <a:buNone/>
            </a:pPr>
            <a:r>
              <a:rPr lang="en-US" sz="1000">
                <a:solidFill>
                  <a:srgbClr val="334155"/>
                </a:solidFill>
                <a:latin typeface="Calibri" pitchFamily="34" charset="0"/>
                <a:ea typeface="Calibri" pitchFamily="34" charset="-122"/>
                <a:cs typeface="Calibri" pitchFamily="34" charset="-120"/>
              </a:rPr>
              <a:t>Logistic regression weights for r/gameofthrones, r/AmItheAsshole, r/relationship_advice, and r/nba.</a:t>
            </a:r>
            <a:endParaRPr lang="en-US" sz="1100"/>
          </a:p>
          <a:p>
            <a:pPr marL="0" indent="0">
              <a:buNone/>
            </a:pPr>
            <a:r>
              <a:rPr lang="en-US" sz="400">
                <a:solidFill>
                  <a:srgbClr val="000000"/>
                </a:solidFill>
                <a:latin typeface="Calibri" pitchFamily="34" charset="0"/>
                <a:ea typeface="Calibri" pitchFamily="34" charset="-122"/>
                <a:cs typeface="Calibri" pitchFamily="34" charset="-120"/>
              </a:rPr>
              <a:t> </a:t>
            </a:r>
            <a:endParaRPr lang="en-US" sz="1100"/>
          </a:p>
          <a:p>
            <a:pPr marL="0" indent="0">
              <a:buNone/>
            </a:pPr>
            <a:r>
              <a:rPr lang="en-US" sz="1100" b="1">
                <a:solidFill>
                  <a:srgbClr val="0F172A"/>
                </a:solidFill>
                <a:latin typeface="Calibri" pitchFamily="34" charset="0"/>
                <a:ea typeface="Calibri" pitchFamily="34" charset="-122"/>
                <a:cs typeface="Calibri" pitchFamily="34" charset="-120"/>
              </a:rPr>
              <a:t>What stands out</a:t>
            </a:r>
            <a:endParaRPr lang="en-US" sz="1100"/>
          </a:p>
          <a:p>
            <a:pPr marL="0" indent="0">
              <a:buNone/>
            </a:pPr>
            <a:r>
              <a:rPr lang="en-US" sz="1000">
                <a:solidFill>
                  <a:srgbClr val="334155"/>
                </a:solidFill>
                <a:latin typeface="Calibri" pitchFamily="34" charset="0"/>
                <a:ea typeface="Calibri" pitchFamily="34" charset="-122"/>
                <a:cs typeface="Calibri" pitchFamily="34" charset="-120"/>
              </a:rPr>
              <a:t>Character names (</a:t>
            </a:r>
            <a:r>
              <a:rPr lang="en-US" sz="1000" i="1">
                <a:solidFill>
                  <a:srgbClr val="1E3A8A"/>
                </a:solidFill>
                <a:latin typeface="Calibri" pitchFamily="34" charset="0"/>
                <a:ea typeface="Calibri" pitchFamily="34" charset="-122"/>
                <a:cs typeface="Calibri" pitchFamily="34" charset="-120"/>
              </a:rPr>
              <a:t>podrick, tormund, meera</a:t>
            </a:r>
            <a:r>
              <a:rPr lang="en-US" sz="1000">
                <a:solidFill>
                  <a:srgbClr val="334155"/>
                </a:solidFill>
                <a:latin typeface="Calibri" pitchFamily="34" charset="0"/>
                <a:ea typeface="Calibri" pitchFamily="34" charset="-122"/>
                <a:cs typeface="Calibri" pitchFamily="34" charset="-120"/>
              </a:rPr>
              <a:t>) for GoT. Player names (</a:t>
            </a:r>
            <a:r>
              <a:rPr lang="en-US" sz="1000" i="1">
                <a:solidFill>
                  <a:srgbClr val="1E3A8A"/>
                </a:solidFill>
                <a:latin typeface="Calibri" pitchFamily="34" charset="0"/>
                <a:ea typeface="Calibri" pitchFamily="34" charset="-122"/>
                <a:cs typeface="Calibri" pitchFamily="34" charset="-120"/>
              </a:rPr>
              <a:t>harden, giannis, kyrie</a:t>
            </a:r>
            <a:r>
              <a:rPr lang="en-US" sz="1000">
                <a:solidFill>
                  <a:srgbClr val="334155"/>
                </a:solidFill>
                <a:latin typeface="Calibri" pitchFamily="34" charset="0"/>
                <a:ea typeface="Calibri" pitchFamily="34" charset="-122"/>
                <a:cs typeface="Calibri" pitchFamily="34" charset="-120"/>
              </a:rPr>
              <a:t>) for NBA. Community slang (</a:t>
            </a:r>
            <a:r>
              <a:rPr lang="en-US" sz="1000" i="1">
                <a:solidFill>
                  <a:srgbClr val="1E3A8A"/>
                </a:solidFill>
                <a:latin typeface="Calibri" pitchFamily="34" charset="0"/>
                <a:ea typeface="Calibri" pitchFamily="34" charset="-122"/>
                <a:cs typeface="Calibri" pitchFamily="34" charset="-120"/>
              </a:rPr>
              <a:t>yta, nta, esh</a:t>
            </a:r>
            <a:r>
              <a:rPr lang="en-US" sz="1000">
                <a:solidFill>
                  <a:srgbClr val="334155"/>
                </a:solidFill>
                <a:latin typeface="Calibri" pitchFamily="34" charset="0"/>
                <a:ea typeface="Calibri" pitchFamily="34" charset="-122"/>
                <a:cs typeface="Calibri" pitchFamily="34" charset="-120"/>
              </a:rPr>
              <a:t>) for AmItheAsshole.</a:t>
            </a:r>
            <a:endParaRPr lang="en-US" sz="1100"/>
          </a:p>
          <a:p>
            <a:pPr marL="0" indent="0">
              <a:buNone/>
            </a:pPr>
            <a:r>
              <a:rPr lang="en-US" sz="400">
                <a:solidFill>
                  <a:srgbClr val="000000"/>
                </a:solidFill>
                <a:latin typeface="Calibri" pitchFamily="34" charset="0"/>
                <a:ea typeface="Calibri" pitchFamily="34" charset="-122"/>
                <a:cs typeface="Calibri" pitchFamily="34" charset="-120"/>
              </a:rPr>
              <a:t> </a:t>
            </a:r>
            <a:endParaRPr lang="en-US" sz="1100"/>
          </a:p>
          <a:p>
            <a:pPr marL="0" indent="0">
              <a:buNone/>
            </a:pPr>
            <a:r>
              <a:rPr lang="en-US" sz="1100" b="1">
                <a:solidFill>
                  <a:srgbClr val="0F172A"/>
                </a:solidFill>
                <a:latin typeface="Calibri" pitchFamily="34" charset="0"/>
                <a:ea typeface="Calibri" pitchFamily="34" charset="-122"/>
                <a:cs typeface="Calibri" pitchFamily="34" charset="-120"/>
              </a:rPr>
              <a:t>Why it matters</a:t>
            </a:r>
            <a:endParaRPr lang="en-US" sz="1100"/>
          </a:p>
          <a:p>
            <a:pPr marL="0" indent="0">
              <a:buNone/>
            </a:pPr>
            <a:r>
              <a:rPr lang="en-US" sz="1000">
                <a:solidFill>
                  <a:srgbClr val="334155"/>
                </a:solidFill>
                <a:latin typeface="Calibri" pitchFamily="34" charset="0"/>
                <a:ea typeface="Calibri" pitchFamily="34" charset="-122"/>
                <a:cs typeface="Calibri" pitchFamily="34" charset="-120"/>
              </a:rPr>
              <a:t>The model isn't a black box — it picks up genuinely distinctive vocabulary from each community.</a:t>
            </a:r>
            <a:endParaRPr lang="en-US" sz="1100"/>
          </a:p>
        </p:txBody>
      </p:sp>
      <p:sp>
        <p:nvSpPr>
          <p:cNvPr id="8" name="Text 5"/>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9" name="Text 6"/>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10 / 12</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CONFUSION MATRIX</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Where the Model Confuses Subreddits</a:t>
            </a:r>
            <a:endParaRPr lang="en-US" sz="2800"/>
          </a:p>
        </p:txBody>
      </p:sp>
      <p:pic>
        <p:nvPicPr>
          <p:cNvPr id="5" name="Image 0" descr="/home/claude/user_imgs/confusion.png"/>
          <p:cNvPicPr>
            <a:picLocks noChangeAspect="1"/>
          </p:cNvPicPr>
          <p:nvPr/>
        </p:nvPicPr>
        <p:blipFill>
          <a:blip r:embed="rId3"/>
          <a:srcRect/>
          <a:stretch/>
        </p:blipFill>
        <p:spPr>
          <a:xfrm>
            <a:off x="457200" y="1325880"/>
            <a:ext cx="5120640" cy="3429000"/>
          </a:xfrm>
          <a:prstGeom prst="rect">
            <a:avLst/>
          </a:prstGeom>
        </p:spPr>
      </p:pic>
      <p:sp>
        <p:nvSpPr>
          <p:cNvPr id="6" name="Shape 3"/>
          <p:cNvSpPr/>
          <p:nvPr/>
        </p:nvSpPr>
        <p:spPr>
          <a:xfrm>
            <a:off x="5715000" y="1325880"/>
            <a:ext cx="2971800" cy="3429000"/>
          </a:xfrm>
          <a:prstGeom prst="rect">
            <a:avLst/>
          </a:prstGeom>
          <a:solidFill>
            <a:srgbClr val="F8FAFC"/>
          </a:solidFill>
          <a:ln w="9525">
            <a:solidFill>
              <a:srgbClr val="E2E8F0"/>
            </a:solidFill>
            <a:prstDash val="solid"/>
          </a:ln>
        </p:spPr>
        <p:txBody>
          <a:bodyPr/>
          <a:lstStyle/>
          <a:p>
            <a:endParaRPr lang="en-US"/>
          </a:p>
        </p:txBody>
      </p:sp>
      <p:sp>
        <p:nvSpPr>
          <p:cNvPr id="7" name="Text 4"/>
          <p:cNvSpPr/>
          <p:nvPr/>
        </p:nvSpPr>
        <p:spPr>
          <a:xfrm>
            <a:off x="5897880" y="1444752"/>
            <a:ext cx="269748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HOW TO READ IT</a:t>
            </a:r>
            <a:endParaRPr lang="en-US" sz="1000"/>
          </a:p>
        </p:txBody>
      </p:sp>
      <p:sp>
        <p:nvSpPr>
          <p:cNvPr id="8" name="Text 5"/>
          <p:cNvSpPr/>
          <p:nvPr/>
        </p:nvSpPr>
        <p:spPr>
          <a:xfrm>
            <a:off x="5897880" y="1719072"/>
            <a:ext cx="2697480" cy="594360"/>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Rows are the true subreddit, columns are the predicted subreddit. A perfect model would be a solid diagonal.</a:t>
            </a:r>
            <a:endParaRPr lang="en-US" sz="1000"/>
          </a:p>
        </p:txBody>
      </p:sp>
      <p:sp>
        <p:nvSpPr>
          <p:cNvPr id="9" name="Text 6"/>
          <p:cNvSpPr/>
          <p:nvPr/>
        </p:nvSpPr>
        <p:spPr>
          <a:xfrm>
            <a:off x="5897880" y="2423160"/>
            <a:ext cx="2697480" cy="566928"/>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Clear diagonal</a:t>
            </a:r>
            <a:endParaRPr lang="en-US" sz="1050"/>
          </a:p>
          <a:p>
            <a:pPr marL="0" indent="0">
              <a:buNone/>
            </a:pPr>
            <a:r>
              <a:rPr lang="en-US" sz="950">
                <a:solidFill>
                  <a:srgbClr val="334155"/>
                </a:solidFill>
                <a:latin typeface="Calibri" pitchFamily="34" charset="0"/>
                <a:ea typeface="Calibri" pitchFamily="34" charset="-122"/>
                <a:cs typeface="Calibri" pitchFamily="34" charset="-120"/>
              </a:rPr>
              <a:t>The model is learning real signal across all 40 classes.</a:t>
            </a:r>
            <a:endParaRPr lang="en-US" sz="1050"/>
          </a:p>
        </p:txBody>
      </p:sp>
      <p:sp>
        <p:nvSpPr>
          <p:cNvPr id="10" name="Text 7"/>
          <p:cNvSpPr/>
          <p:nvPr/>
        </p:nvSpPr>
        <p:spPr>
          <a:xfrm>
            <a:off x="5897880" y="3017520"/>
            <a:ext cx="2697480" cy="566928"/>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Pikabu over-prediction</a:t>
            </a:r>
            <a:endParaRPr lang="en-US" sz="1050"/>
          </a:p>
          <a:p>
            <a:pPr marL="0" indent="0">
              <a:buNone/>
            </a:pPr>
            <a:r>
              <a:rPr lang="en-US" sz="950">
                <a:solidFill>
                  <a:srgbClr val="334155"/>
                </a:solidFill>
                <a:latin typeface="Calibri" pitchFamily="34" charset="0"/>
                <a:ea typeface="Calibri" pitchFamily="34" charset="-122"/>
                <a:cs typeface="Calibri" pitchFamily="34" charset="-120"/>
              </a:rPr>
              <a:t>The Pikabu column is darker than others — the model leans toward it when uncertain.</a:t>
            </a:r>
            <a:endParaRPr lang="en-US" sz="1050"/>
          </a:p>
        </p:txBody>
      </p:sp>
      <p:sp>
        <p:nvSpPr>
          <p:cNvPr id="11" name="Text 8"/>
          <p:cNvSpPr/>
          <p:nvPr/>
        </p:nvSpPr>
        <p:spPr>
          <a:xfrm>
            <a:off x="5897880" y="3611880"/>
            <a:ext cx="2697480" cy="566928"/>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Game-of-Thrones cluster</a:t>
            </a:r>
            <a:endParaRPr lang="en-US" sz="1050"/>
          </a:p>
          <a:p>
            <a:pPr marL="0" indent="0">
              <a:buNone/>
            </a:pPr>
            <a:r>
              <a:rPr lang="en-US" sz="950">
                <a:solidFill>
                  <a:srgbClr val="334155"/>
                </a:solidFill>
                <a:latin typeface="Calibri" pitchFamily="34" charset="0"/>
                <a:ea typeface="Calibri" pitchFamily="34" charset="-122"/>
                <a:cs typeface="Calibri" pitchFamily="34" charset="-120"/>
              </a:rPr>
              <a:t>r/gameofthrones, r/asoiaf, and r/freefolk get confused — same fandom, overlapping vocabulary.</a:t>
            </a:r>
            <a:endParaRPr lang="en-US" sz="1050"/>
          </a:p>
        </p:txBody>
      </p:sp>
      <p:sp>
        <p:nvSpPr>
          <p:cNvPr id="12" name="Text 9"/>
          <p:cNvSpPr/>
          <p:nvPr/>
        </p:nvSpPr>
        <p:spPr>
          <a:xfrm>
            <a:off x="5897880" y="4206240"/>
            <a:ext cx="2697480" cy="566928"/>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Advice overlap</a:t>
            </a:r>
            <a:endParaRPr lang="en-US" sz="1050"/>
          </a:p>
          <a:p>
            <a:pPr marL="0" indent="0">
              <a:buNone/>
            </a:pPr>
            <a:r>
              <a:rPr lang="en-US" sz="950">
                <a:solidFill>
                  <a:srgbClr val="334155"/>
                </a:solidFill>
                <a:latin typeface="Calibri" pitchFamily="34" charset="0"/>
                <a:ea typeface="Calibri" pitchFamily="34" charset="-122"/>
                <a:cs typeface="Calibri" pitchFamily="34" charset="-120"/>
              </a:rPr>
              <a:t>r/AmItheAsshole and r/relationship_advice swap predictions — similar topics.</a:t>
            </a:r>
            <a:endParaRPr lang="en-US" sz="1050"/>
          </a:p>
        </p:txBody>
      </p:sp>
      <p:sp>
        <p:nvSpPr>
          <p:cNvPr id="13" name="Text 10"/>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14" name="Text 11"/>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11 / 12</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75488"/>
            <a:ext cx="128016" cy="128016"/>
          </a:xfrm>
          <a:prstGeom prst="rect">
            <a:avLst/>
          </a:prstGeom>
          <a:solidFill>
            <a:srgbClr val="1E3A8A"/>
          </a:solidFill>
          <a:ln w="12700">
            <a:solidFill>
              <a:srgbClr val="1E3A8A"/>
            </a:solidFill>
            <a:prstDash val="solid"/>
          </a:ln>
        </p:spPr>
        <p:txBody>
          <a:bodyPr/>
          <a:lstStyle/>
          <a:p>
            <a:endParaRPr lang="en-US"/>
          </a:p>
        </p:txBody>
      </p:sp>
      <p:sp>
        <p:nvSpPr>
          <p:cNvPr id="3" name="Text 1"/>
          <p:cNvSpPr/>
          <p:nvPr/>
        </p:nvSpPr>
        <p:spPr>
          <a:xfrm>
            <a:off x="713232" y="384048"/>
            <a:ext cx="54864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WRAP-UP</a:t>
            </a:r>
            <a:endParaRPr lang="en-US" sz="1000"/>
          </a:p>
        </p:txBody>
      </p:sp>
      <p:sp>
        <p:nvSpPr>
          <p:cNvPr id="4" name="Text 2"/>
          <p:cNvSpPr/>
          <p:nvPr/>
        </p:nvSpPr>
        <p:spPr>
          <a:xfrm>
            <a:off x="457200" y="713232"/>
            <a:ext cx="8229600" cy="640080"/>
          </a:xfrm>
          <a:prstGeom prst="rect">
            <a:avLst/>
          </a:prstGeom>
          <a:noFill/>
          <a:ln/>
        </p:spPr>
        <p:txBody>
          <a:bodyPr wrap="square" lIns="0" tIns="0" rIns="0" bIns="0" rtlCol="0" anchor="t"/>
          <a:lstStyle/>
          <a:p>
            <a:pPr marL="0" indent="0">
              <a:buNone/>
            </a:pPr>
            <a:r>
              <a:rPr lang="en-US" sz="2800" b="1">
                <a:solidFill>
                  <a:srgbClr val="0F172A"/>
                </a:solidFill>
                <a:latin typeface="Georgia" pitchFamily="34" charset="0"/>
                <a:ea typeface="Georgia" pitchFamily="34" charset="-122"/>
                <a:cs typeface="Georgia" pitchFamily="34" charset="-120"/>
              </a:rPr>
              <a:t>Conclusions &amp; Future Work</a:t>
            </a:r>
            <a:endParaRPr lang="en-US" sz="2800"/>
          </a:p>
        </p:txBody>
      </p:sp>
      <p:sp>
        <p:nvSpPr>
          <p:cNvPr id="5" name="Text 3"/>
          <p:cNvSpPr/>
          <p:nvPr/>
        </p:nvSpPr>
        <p:spPr>
          <a:xfrm>
            <a:off x="457200" y="1417320"/>
            <a:ext cx="82296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KEY TAKEAWAYS</a:t>
            </a:r>
            <a:endParaRPr lang="en-US" sz="1000"/>
          </a:p>
        </p:txBody>
      </p:sp>
      <p:sp>
        <p:nvSpPr>
          <p:cNvPr id="6" name="Shape 4"/>
          <p:cNvSpPr/>
          <p:nvPr/>
        </p:nvSpPr>
        <p:spPr>
          <a:xfrm>
            <a:off x="457200" y="1737360"/>
            <a:ext cx="2606040" cy="1463040"/>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457200" y="1737360"/>
            <a:ext cx="64008" cy="1463040"/>
          </a:xfrm>
          <a:prstGeom prst="rect">
            <a:avLst/>
          </a:prstGeom>
          <a:solidFill>
            <a:srgbClr val="EA580C"/>
          </a:solidFill>
          <a:ln w="12700">
            <a:solidFill>
              <a:srgbClr val="EA580C"/>
            </a:solidFill>
            <a:prstDash val="solid"/>
          </a:ln>
        </p:spPr>
        <p:txBody>
          <a:bodyPr/>
          <a:lstStyle/>
          <a:p>
            <a:endParaRPr lang="en-US"/>
          </a:p>
        </p:txBody>
      </p:sp>
      <p:sp>
        <p:nvSpPr>
          <p:cNvPr id="8" name="Text 6"/>
          <p:cNvSpPr/>
          <p:nvPr/>
        </p:nvSpPr>
        <p:spPr>
          <a:xfrm>
            <a:off x="658368" y="1847088"/>
            <a:ext cx="23317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01</a:t>
            </a:r>
            <a:endParaRPr lang="en-US" sz="1100"/>
          </a:p>
        </p:txBody>
      </p:sp>
      <p:sp>
        <p:nvSpPr>
          <p:cNvPr id="9" name="Text 7"/>
          <p:cNvSpPr/>
          <p:nvPr/>
        </p:nvSpPr>
        <p:spPr>
          <a:xfrm>
            <a:off x="658368" y="2121408"/>
            <a:ext cx="2331720" cy="36576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Right tool &gt; fancy tool</a:t>
            </a:r>
            <a:endParaRPr lang="en-US" sz="1300"/>
          </a:p>
        </p:txBody>
      </p:sp>
      <p:sp>
        <p:nvSpPr>
          <p:cNvPr id="10" name="Text 8"/>
          <p:cNvSpPr/>
          <p:nvPr/>
        </p:nvSpPr>
        <p:spPr>
          <a:xfrm>
            <a:off x="658368" y="2514600"/>
            <a:ext cx="2331720" cy="685800"/>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Simple logistic regression beat a deeper MLP on sparse, high-dimensional text features.</a:t>
            </a:r>
            <a:endParaRPr lang="en-US" sz="1000"/>
          </a:p>
        </p:txBody>
      </p:sp>
      <p:sp>
        <p:nvSpPr>
          <p:cNvPr id="11" name="Shape 9"/>
          <p:cNvSpPr/>
          <p:nvPr/>
        </p:nvSpPr>
        <p:spPr>
          <a:xfrm>
            <a:off x="3246120" y="1737360"/>
            <a:ext cx="2606040" cy="1463040"/>
          </a:xfrm>
          <a:prstGeom prst="rect">
            <a:avLst/>
          </a:prstGeom>
          <a:solidFill>
            <a:srgbClr val="FFFFFF"/>
          </a:solidFill>
          <a:ln w="9525">
            <a:solidFill>
              <a:srgbClr val="E2E8F0"/>
            </a:solidFill>
            <a:prstDash val="solid"/>
          </a:ln>
        </p:spPr>
        <p:txBody>
          <a:bodyPr/>
          <a:lstStyle/>
          <a:p>
            <a:endParaRPr lang="en-US"/>
          </a:p>
        </p:txBody>
      </p:sp>
      <p:sp>
        <p:nvSpPr>
          <p:cNvPr id="12" name="Shape 10"/>
          <p:cNvSpPr/>
          <p:nvPr/>
        </p:nvSpPr>
        <p:spPr>
          <a:xfrm>
            <a:off x="3246120" y="1737360"/>
            <a:ext cx="64008" cy="1463040"/>
          </a:xfrm>
          <a:prstGeom prst="rect">
            <a:avLst/>
          </a:prstGeom>
          <a:solidFill>
            <a:srgbClr val="EA580C"/>
          </a:solidFill>
          <a:ln w="12700">
            <a:solidFill>
              <a:srgbClr val="EA580C"/>
            </a:solidFill>
            <a:prstDash val="solid"/>
          </a:ln>
        </p:spPr>
        <p:txBody>
          <a:bodyPr/>
          <a:lstStyle/>
          <a:p>
            <a:endParaRPr lang="en-US"/>
          </a:p>
        </p:txBody>
      </p:sp>
      <p:sp>
        <p:nvSpPr>
          <p:cNvPr id="13" name="Text 11"/>
          <p:cNvSpPr/>
          <p:nvPr/>
        </p:nvSpPr>
        <p:spPr>
          <a:xfrm>
            <a:off x="3447288" y="1847088"/>
            <a:ext cx="23317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02</a:t>
            </a:r>
            <a:endParaRPr lang="en-US" sz="1100"/>
          </a:p>
        </p:txBody>
      </p:sp>
      <p:sp>
        <p:nvSpPr>
          <p:cNvPr id="14" name="Text 12"/>
          <p:cNvSpPr/>
          <p:nvPr/>
        </p:nvSpPr>
        <p:spPr>
          <a:xfrm>
            <a:off x="3447288" y="2121408"/>
            <a:ext cx="2331720" cy="36576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16× random baseline</a:t>
            </a:r>
            <a:endParaRPr lang="en-US" sz="1300"/>
          </a:p>
        </p:txBody>
      </p:sp>
      <p:sp>
        <p:nvSpPr>
          <p:cNvPr id="15" name="Text 13"/>
          <p:cNvSpPr/>
          <p:nvPr/>
        </p:nvSpPr>
        <p:spPr>
          <a:xfrm>
            <a:off x="3447288" y="2514600"/>
            <a:ext cx="2331720" cy="685800"/>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41% accuracy across 40 classes is a strong result — random would be 2.5%.</a:t>
            </a:r>
            <a:endParaRPr lang="en-US" sz="1000"/>
          </a:p>
        </p:txBody>
      </p:sp>
      <p:sp>
        <p:nvSpPr>
          <p:cNvPr id="16" name="Shape 14"/>
          <p:cNvSpPr/>
          <p:nvPr/>
        </p:nvSpPr>
        <p:spPr>
          <a:xfrm>
            <a:off x="6035040" y="1737360"/>
            <a:ext cx="2606040" cy="1463040"/>
          </a:xfrm>
          <a:prstGeom prst="rect">
            <a:avLst/>
          </a:prstGeom>
          <a:solidFill>
            <a:srgbClr val="FFFFFF"/>
          </a:solidFill>
          <a:ln w="9525">
            <a:solidFill>
              <a:srgbClr val="E2E8F0"/>
            </a:solidFill>
            <a:prstDash val="solid"/>
          </a:ln>
        </p:spPr>
        <p:txBody>
          <a:bodyPr/>
          <a:lstStyle/>
          <a:p>
            <a:endParaRPr lang="en-US"/>
          </a:p>
        </p:txBody>
      </p:sp>
      <p:sp>
        <p:nvSpPr>
          <p:cNvPr id="17" name="Shape 15"/>
          <p:cNvSpPr/>
          <p:nvPr/>
        </p:nvSpPr>
        <p:spPr>
          <a:xfrm>
            <a:off x="6035040" y="1737360"/>
            <a:ext cx="64008" cy="1463040"/>
          </a:xfrm>
          <a:prstGeom prst="rect">
            <a:avLst/>
          </a:prstGeom>
          <a:solidFill>
            <a:srgbClr val="EA580C"/>
          </a:solidFill>
          <a:ln w="12700">
            <a:solidFill>
              <a:srgbClr val="EA580C"/>
            </a:solidFill>
            <a:prstDash val="solid"/>
          </a:ln>
        </p:spPr>
        <p:txBody>
          <a:bodyPr/>
          <a:lstStyle/>
          <a:p>
            <a:endParaRPr lang="en-US"/>
          </a:p>
        </p:txBody>
      </p:sp>
      <p:sp>
        <p:nvSpPr>
          <p:cNvPr id="18" name="Text 16"/>
          <p:cNvSpPr/>
          <p:nvPr/>
        </p:nvSpPr>
        <p:spPr>
          <a:xfrm>
            <a:off x="6236208" y="1847088"/>
            <a:ext cx="2331720" cy="274320"/>
          </a:xfrm>
          <a:prstGeom prst="rect">
            <a:avLst/>
          </a:prstGeom>
          <a:noFill/>
          <a:ln/>
        </p:spPr>
        <p:txBody>
          <a:bodyPr wrap="square" lIns="0" tIns="0" rIns="0" bIns="0" rtlCol="0" anchor="ctr"/>
          <a:lstStyle/>
          <a:p>
            <a:pPr marL="0" indent="0">
              <a:buNone/>
            </a:pPr>
            <a:r>
              <a:rPr lang="en-US" sz="1100" b="1">
                <a:solidFill>
                  <a:srgbClr val="EA580C"/>
                </a:solidFill>
                <a:latin typeface="Consolas" pitchFamily="34" charset="0"/>
                <a:ea typeface="Consolas" pitchFamily="34" charset="-122"/>
                <a:cs typeface="Consolas" pitchFamily="34" charset="-120"/>
              </a:rPr>
              <a:t>03</a:t>
            </a:r>
            <a:endParaRPr lang="en-US" sz="1100"/>
          </a:p>
        </p:txBody>
      </p:sp>
      <p:sp>
        <p:nvSpPr>
          <p:cNvPr id="19" name="Text 17"/>
          <p:cNvSpPr/>
          <p:nvPr/>
        </p:nvSpPr>
        <p:spPr>
          <a:xfrm>
            <a:off x="6236208" y="2121408"/>
            <a:ext cx="2331720" cy="365760"/>
          </a:xfrm>
          <a:prstGeom prst="rect">
            <a:avLst/>
          </a:prstGeom>
          <a:noFill/>
          <a:ln/>
        </p:spPr>
        <p:txBody>
          <a:bodyPr wrap="square" lIns="0" tIns="0" rIns="0" bIns="0" rtlCol="0" anchor="ctr"/>
          <a:lstStyle/>
          <a:p>
            <a:pPr marL="0" indent="0">
              <a:buNone/>
            </a:pPr>
            <a:r>
              <a:rPr lang="en-US" sz="1300" b="1">
                <a:solidFill>
                  <a:srgbClr val="0F172A"/>
                </a:solidFill>
                <a:latin typeface="Calibri" pitchFamily="34" charset="0"/>
                <a:ea typeface="Calibri" pitchFamily="34" charset="-122"/>
                <a:cs typeface="Calibri" pitchFamily="34" charset="-120"/>
              </a:rPr>
              <a:t>Interpretable signal</a:t>
            </a:r>
            <a:endParaRPr lang="en-US" sz="1300"/>
          </a:p>
        </p:txBody>
      </p:sp>
      <p:sp>
        <p:nvSpPr>
          <p:cNvPr id="20" name="Text 18"/>
          <p:cNvSpPr/>
          <p:nvPr/>
        </p:nvSpPr>
        <p:spPr>
          <a:xfrm>
            <a:off x="6236208" y="2514600"/>
            <a:ext cx="2331720" cy="685800"/>
          </a:xfrm>
          <a:prstGeom prst="rect">
            <a:avLst/>
          </a:prstGeom>
          <a:noFill/>
          <a:ln/>
        </p:spPr>
        <p:txBody>
          <a:bodyPr wrap="square" lIns="0" tIns="0" rIns="0" bIns="0" rtlCol="0" anchor="t"/>
          <a:lstStyle/>
          <a:p>
            <a:pPr marL="0" indent="0">
              <a:buNone/>
            </a:pPr>
            <a:r>
              <a:rPr lang="en-US" sz="1000">
                <a:solidFill>
                  <a:srgbClr val="334155"/>
                </a:solidFill>
                <a:latin typeface="Calibri" pitchFamily="34" charset="0"/>
                <a:ea typeface="Calibri" pitchFamily="34" charset="-122"/>
                <a:cs typeface="Calibri" pitchFamily="34" charset="-120"/>
              </a:rPr>
              <a:t>Top-weighted words match each community's real vocabulary (names, slang, topics).</a:t>
            </a:r>
            <a:endParaRPr lang="en-US" sz="1000"/>
          </a:p>
        </p:txBody>
      </p:sp>
      <p:sp>
        <p:nvSpPr>
          <p:cNvPr id="21" name="Text 19"/>
          <p:cNvSpPr/>
          <p:nvPr/>
        </p:nvSpPr>
        <p:spPr>
          <a:xfrm>
            <a:off x="457200" y="3429000"/>
            <a:ext cx="8229600" cy="274320"/>
          </a:xfrm>
          <a:prstGeom prst="rect">
            <a:avLst/>
          </a:prstGeom>
          <a:noFill/>
          <a:ln/>
        </p:spPr>
        <p:txBody>
          <a:bodyPr wrap="square" lIns="0" tIns="0" rIns="0" bIns="0" rtlCol="0" anchor="ctr"/>
          <a:lstStyle/>
          <a:p>
            <a:pPr marL="0" indent="0">
              <a:buNone/>
            </a:pPr>
            <a:r>
              <a:rPr lang="en-US" sz="1000" b="1" kern="0" spc="400">
                <a:solidFill>
                  <a:srgbClr val="1E3A8A"/>
                </a:solidFill>
                <a:latin typeface="Calibri" pitchFamily="34" charset="0"/>
                <a:ea typeface="Calibri" pitchFamily="34" charset="-122"/>
                <a:cs typeface="Calibri" pitchFamily="34" charset="-120"/>
              </a:rPr>
              <a:t>FUTURE WORK</a:t>
            </a:r>
            <a:endParaRPr lang="en-US" sz="1000"/>
          </a:p>
        </p:txBody>
      </p:sp>
      <p:sp>
        <p:nvSpPr>
          <p:cNvPr id="22" name="Text 20"/>
          <p:cNvSpPr/>
          <p:nvPr/>
        </p:nvSpPr>
        <p:spPr>
          <a:xfrm>
            <a:off x="457200" y="3749040"/>
            <a:ext cx="4023360" cy="41148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Word embeddings  </a:t>
            </a:r>
            <a:r>
              <a:rPr lang="en-US" sz="1000">
                <a:solidFill>
                  <a:srgbClr val="334155"/>
                </a:solidFill>
                <a:latin typeface="Calibri" pitchFamily="34" charset="0"/>
                <a:ea typeface="Calibri" pitchFamily="34" charset="-122"/>
                <a:cs typeface="Calibri" pitchFamily="34" charset="-120"/>
              </a:rPr>
              <a:t>Word2Vec or BERT instead of TF-IDF — captures meaning, not just word counts.</a:t>
            </a:r>
            <a:endParaRPr lang="en-US" sz="1050"/>
          </a:p>
        </p:txBody>
      </p:sp>
      <p:sp>
        <p:nvSpPr>
          <p:cNvPr id="23" name="Text 21"/>
          <p:cNvSpPr/>
          <p:nvPr/>
        </p:nvSpPr>
        <p:spPr>
          <a:xfrm>
            <a:off x="4617720" y="3749040"/>
            <a:ext cx="4023360" cy="41148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N-grams  </a:t>
            </a:r>
            <a:r>
              <a:rPr lang="en-US" sz="1000">
                <a:solidFill>
                  <a:srgbClr val="334155"/>
                </a:solidFill>
                <a:latin typeface="Calibri" pitchFamily="34" charset="0"/>
                <a:ea typeface="Calibri" pitchFamily="34" charset="-122"/>
                <a:cs typeface="Calibri" pitchFamily="34" charset="-120"/>
              </a:rPr>
              <a:t>Add bigrams/trigrams to capture short phrases ("not the asshole").</a:t>
            </a:r>
            <a:endParaRPr lang="en-US" sz="1050"/>
          </a:p>
        </p:txBody>
      </p:sp>
      <p:sp>
        <p:nvSpPr>
          <p:cNvPr id="24" name="Text 22"/>
          <p:cNvSpPr/>
          <p:nvPr/>
        </p:nvSpPr>
        <p:spPr>
          <a:xfrm>
            <a:off x="457200" y="4206240"/>
            <a:ext cx="4023360" cy="41148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Better trees  </a:t>
            </a:r>
            <a:r>
              <a:rPr lang="en-US" sz="1000">
                <a:solidFill>
                  <a:srgbClr val="334155"/>
                </a:solidFill>
                <a:latin typeface="Calibri" pitchFamily="34" charset="0"/>
                <a:ea typeface="Calibri" pitchFamily="34" charset="-122"/>
                <a:cs typeface="Calibri" pitchFamily="34" charset="-120"/>
              </a:rPr>
              <a:t>Gradient-boosted trees (GBT) or Random Forest would massively outperform one deep-8 tree.</a:t>
            </a:r>
            <a:endParaRPr lang="en-US" sz="1050"/>
          </a:p>
        </p:txBody>
      </p:sp>
      <p:sp>
        <p:nvSpPr>
          <p:cNvPr id="25" name="Text 23"/>
          <p:cNvSpPr/>
          <p:nvPr/>
        </p:nvSpPr>
        <p:spPr>
          <a:xfrm>
            <a:off x="4617720" y="4206240"/>
            <a:ext cx="4023360" cy="411480"/>
          </a:xfrm>
          <a:prstGeom prst="rect">
            <a:avLst/>
          </a:prstGeom>
          <a:noFill/>
          <a:ln/>
        </p:spPr>
        <p:txBody>
          <a:bodyPr wrap="square" lIns="0" tIns="0" rIns="0" bIns="0" rtlCol="0" anchor="t"/>
          <a:lstStyle/>
          <a:p>
            <a:pPr marL="0" indent="0">
              <a:buNone/>
            </a:pPr>
            <a:r>
              <a:rPr lang="en-US" sz="1050" b="1">
                <a:solidFill>
                  <a:srgbClr val="0F172A"/>
                </a:solidFill>
                <a:latin typeface="Calibri" pitchFamily="34" charset="0"/>
                <a:ea typeface="Calibri" pitchFamily="34" charset="-122"/>
                <a:cs typeface="Calibri" pitchFamily="34" charset="-120"/>
              </a:rPr>
              <a:t>Tune the MLP  </a:t>
            </a:r>
            <a:r>
              <a:rPr lang="en-US" sz="1000">
                <a:solidFill>
                  <a:srgbClr val="334155"/>
                </a:solidFill>
                <a:latin typeface="Calibri" pitchFamily="34" charset="0"/>
                <a:ea typeface="Calibri" pitchFamily="34" charset="-122"/>
                <a:cs typeface="Calibri" pitchFamily="34" charset="-120"/>
              </a:rPr>
              <a:t>More epochs, dropout, a wider embedding layer — fairer comparison vs LR.</a:t>
            </a:r>
            <a:endParaRPr lang="en-US" sz="1050"/>
          </a:p>
        </p:txBody>
      </p:sp>
      <p:sp>
        <p:nvSpPr>
          <p:cNvPr id="26" name="Text 24"/>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a:solidFill>
                  <a:srgbClr val="64748B"/>
                </a:solidFill>
                <a:latin typeface="Calibri" pitchFamily="34" charset="0"/>
                <a:ea typeface="Calibri" pitchFamily="34" charset="-122"/>
                <a:cs typeface="Calibri" pitchFamily="34" charset="-120"/>
              </a:rPr>
              <a:t>Reddit Subreddit Classification  ·  PySpark ML</a:t>
            </a:r>
            <a:endParaRPr lang="en-US" sz="900"/>
          </a:p>
        </p:txBody>
      </p:sp>
      <p:sp>
        <p:nvSpPr>
          <p:cNvPr id="27" name="Text 25"/>
          <p:cNvSpPr/>
          <p:nvPr/>
        </p:nvSpPr>
        <p:spPr>
          <a:xfrm>
            <a:off x="8229600" y="4846320"/>
            <a:ext cx="822960" cy="228600"/>
          </a:xfrm>
          <a:prstGeom prst="rect">
            <a:avLst/>
          </a:prstGeom>
          <a:noFill/>
          <a:ln/>
        </p:spPr>
        <p:txBody>
          <a:bodyPr wrap="square" lIns="0" tIns="0" rIns="0" bIns="0" rtlCol="0" anchor="ctr"/>
          <a:lstStyle/>
          <a:p>
            <a:pPr marL="0" indent="0" algn="r">
              <a:buNone/>
            </a:pPr>
            <a:r>
              <a:rPr lang="en-US" sz="900">
                <a:solidFill>
                  <a:srgbClr val="64748B"/>
                </a:solidFill>
                <a:latin typeface="Calibri" pitchFamily="34" charset="0"/>
                <a:ea typeface="Calibri" pitchFamily="34" charset="-122"/>
                <a:cs typeface="Calibri" pitchFamily="34" charset="-120"/>
              </a:rPr>
              <a:t>12 / 12</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Reddit Subreddit Classification</dc:title>
  <dc:subject>PptxGenJS Presentation</dc:subject>
  <dc:creator>Final Project</dc:creator>
  <cp:revision>1</cp:revision>
  <dcterms:created xsi:type="dcterms:W3CDTF">2026-05-11T23:37:49Z</dcterms:created>
  <dcterms:modified xsi:type="dcterms:W3CDTF">2026-05-12T20:59:04Z</dcterms:modified>
</cp:coreProperties>
</file>